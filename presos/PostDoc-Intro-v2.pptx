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post.zipcode.rocks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7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88954" cy="228600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1371600" y="1097280"/>
            <a:ext cx="9418320" cy="4389121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TextBox 3"/>
          <p:cNvSpPr txBox="1"/>
          <p:nvPr/>
        </p:nvSpPr>
        <p:spPr>
          <a:xfrm>
            <a:off x="1600200" y="1371600"/>
            <a:ext cx="9052560" cy="745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5200">
                <a:solidFill>
                  <a:srgbClr val="F7941D"/>
                </a:solidFill>
              </a:defRPr>
            </a:lvl1pPr>
          </a:lstStyle>
          <a:p>
            <a:pPr/>
            <a:r>
              <a:t>Building PostDoc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1600200" y="2606039"/>
            <a:ext cx="9052560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FFFFFF"/>
                </a:solidFill>
              </a:defRPr>
            </a:lvl1pPr>
          </a:lstStyle>
          <a:p>
            <a:pPr/>
            <a:r>
              <a:t>An Issue-Driven Development Journey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1600200" y="3291840"/>
            <a:ext cx="9052560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000">
                <a:solidFill>
                  <a:srgbClr val="D0D8E4"/>
                </a:solidFill>
              </a:defRPr>
            </a:lvl1pPr>
          </a:lstStyle>
          <a:p>
            <a:pPr/>
            <a:r>
              <a:t>From zero to Beta 1 – one issue at a time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1600200" y="5029200"/>
            <a:ext cx="9052560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F7941D"/>
                </a:solidFill>
              </a:defRPr>
            </a:lvl1pPr>
          </a:lstStyle>
          <a:p>
            <a:pPr/>
            <a:r>
              <a:t>ZipCodeWilmington  ·  PostDoc Beta 1</a:t>
            </a:r>
          </a:p>
        </p:txBody>
      </p:sp>
      <p:sp>
        <p:nvSpPr>
          <p:cNvPr id="100" name="Rectangle 7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extBox 8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105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6" name="TextBox 4"/>
          <p:cNvSpPr txBox="1"/>
          <p:nvPr/>
        </p:nvSpPr>
        <p:spPr>
          <a:xfrm>
            <a:off x="502919" y="548640"/>
            <a:ext cx="10881361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7941D"/>
                </a:solidFill>
              </a:defRPr>
            </a:lvl1pPr>
          </a:lstStyle>
          <a:p>
            <a:pPr/>
            <a:r>
              <a:t>What is PostDoc?</a:t>
            </a:r>
          </a:p>
        </p:txBody>
      </p:sp>
      <p:sp>
        <p:nvSpPr>
          <p:cNvPr id="107" name="Rectangle 5"/>
          <p:cNvSpPr/>
          <p:nvPr/>
        </p:nvSpPr>
        <p:spPr>
          <a:xfrm>
            <a:off x="457200" y="1371600"/>
            <a:ext cx="5486400" cy="4846321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Rectangle 6"/>
          <p:cNvSpPr/>
          <p:nvPr/>
        </p:nvSpPr>
        <p:spPr>
          <a:xfrm>
            <a:off x="6217920" y="1371600"/>
            <a:ext cx="5486401" cy="4846321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  <a:p>
            <a:pPr algn="ctr">
              <a:defRPr>
                <a:solidFill>
                  <a:srgbClr val="FFFFFF"/>
                </a:solidFill>
              </a:defRPr>
            </a:pP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This became the ideas that were the text to</a:t>
            </a:r>
          </a:p>
        </p:txBody>
      </p:sp>
      <p:sp>
        <p:nvSpPr>
          <p:cNvPr id="109" name="TextBox 7"/>
          <p:cNvSpPr txBox="1"/>
          <p:nvPr/>
        </p:nvSpPr>
        <p:spPr>
          <a:xfrm>
            <a:off x="685799" y="1463039"/>
            <a:ext cx="5029201" cy="1847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>
                <a:solidFill>
                  <a:srgbClr val="F7941D"/>
                </a:solidFill>
              </a:defRPr>
            </a:pPr>
            <a:r>
              <a:t>The Core Idea</a:t>
            </a: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Upload a PDF → get a short, shareable link.</a:t>
            </a: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No special software needed for visitors.</a:t>
            </a: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Optionally gate downloads behind an email address for lead capture.</a:t>
            </a:r>
          </a:p>
        </p:txBody>
      </p:sp>
      <p:sp>
        <p:nvSpPr>
          <p:cNvPr id="110" name="TextBox 8"/>
          <p:cNvSpPr txBox="1"/>
          <p:nvPr/>
        </p:nvSpPr>
        <p:spPr>
          <a:xfrm>
            <a:off x="6446520" y="1463039"/>
            <a:ext cx="4937760" cy="2082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>
                <a:solidFill>
                  <a:srgbClr val="00B4D8"/>
                </a:solidFill>
              </a:defRPr>
            </a:pPr>
            <a:r>
              <a:t>Two Audiences</a:t>
            </a: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👤  </a:t>
            </a:r>
            <a:r>
              <a:t>Admins – log in, upload PDFs, manage documents.</a:t>
            </a:r>
          </a:p>
          <a:p>
            <a:pPr>
              <a:defRPr sz="500">
                <a:solidFill>
                  <a:srgbClr val="FFFFFF"/>
                </a:solidFill>
              </a:defRPr>
            </a:pPr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🌐  </a:t>
            </a:r>
            <a:r>
              <a:t>Visitors – click a short link, optionally provide an email, get the PDF.</a:t>
            </a:r>
          </a:p>
          <a:p>
            <a:pPr>
              <a:defRPr sz="1000">
                <a:solidFill>
                  <a:srgbClr val="FFFFFF"/>
                </a:solidFill>
              </a:defRPr>
            </a:pPr>
          </a:p>
          <a:p>
            <a:pPr>
              <a:defRPr b="1" sz="1700">
                <a:solidFill>
                  <a:srgbClr val="F7941D"/>
                </a:solidFill>
              </a:defRPr>
            </a:pPr>
            <a:r>
              <a:t>Built with Go · SQLite · Docker</a:t>
            </a:r>
          </a:p>
        </p:txBody>
      </p:sp>
      <p:sp>
        <p:nvSpPr>
          <p:cNvPr id="111" name="TextBox 7"/>
          <p:cNvSpPr txBox="1"/>
          <p:nvPr/>
        </p:nvSpPr>
        <p:spPr>
          <a:xfrm>
            <a:off x="685800" y="3358817"/>
            <a:ext cx="5029200" cy="2487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>
                <a:solidFill>
                  <a:srgbClr val="F7941D"/>
                </a:solidFill>
              </a:defRPr>
            </a:pPr>
            <a:r>
              <a:t>PostDoc </a:t>
            </a:r>
            <a:r>
              <a:rPr b="0" sz="1600">
                <a:solidFill>
                  <a:srgbClr val="FFFFFF"/>
                </a:solidFill>
              </a:rPr>
              <a:t>started as the simplest thing that could possibly work: </a:t>
            </a:r>
            <a:r>
              <a:rPr sz="1500">
                <a:solidFill>
                  <a:schemeClr val="accent6">
                    <a:lumOff val="9460"/>
                  </a:schemeClr>
                </a:solidFill>
              </a:rPr>
              <a:t>A Go HTTP server that accepts a multipart/form-data POST containing a PDF file.</a:t>
            </a:r>
            <a:endParaRPr sz="1500">
              <a:solidFill>
                <a:schemeClr val="accent6">
                  <a:lumOff val="9460"/>
                </a:schemeClr>
              </a:solidFill>
            </a:endParaRPr>
          </a:p>
          <a:p>
            <a:pPr>
              <a:defRPr sz="1500">
                <a:solidFill>
                  <a:schemeClr val="accent6">
                    <a:lumOff val="9460"/>
                  </a:schemeClr>
                </a:solidFill>
              </a:defRPr>
            </a:pPr>
            <a:r>
              <a:t>The file is saved to disk with its original name.</a:t>
            </a:r>
          </a:p>
          <a:p>
            <a:pPr>
              <a:defRPr sz="1500">
                <a:solidFill>
                  <a:schemeClr val="accent6">
                    <a:lumOff val="9460"/>
                  </a:schemeClr>
                </a:solidFill>
              </a:defRPr>
            </a:pPr>
            <a:r>
              <a:t>A plain URL like http://localhost:8080/report.pdf is returned so the caller can share it.</a:t>
            </a:r>
          </a:p>
          <a:p>
            <a:pPr>
              <a:defRPr sz="1500">
                <a:solidFill>
                  <a:schemeClr val="accent6">
                    <a:lumOff val="9460"/>
                  </a:schemeClr>
                </a:solidFill>
              </a:defRPr>
            </a:pPr>
            <a:r>
              <a:t>There was no login, sqlite3 database, no admin page—just a single route that saved a file and returned a URL.</a:t>
            </a:r>
          </a:p>
          <a:p>
            <a:pPr>
              <a:defRPr sz="1500">
                <a:solidFill>
                  <a:schemeClr val="accent6">
                    <a:lumOff val="9460"/>
                  </a:schemeClr>
                </a:solidFill>
              </a:defRPr>
            </a:pPr>
            <a:r>
              <a:t>This "version zero" was enough to prove the core idea: upload a PDF, get a shareable link.</a:t>
            </a:r>
          </a:p>
        </p:txBody>
      </p:sp>
      <p:pic>
        <p:nvPicPr>
          <p:cNvPr id="11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53111" y="4413475"/>
            <a:ext cx="4416018" cy="5788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116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7" name="TextBox 4"/>
          <p:cNvSpPr txBox="1"/>
          <p:nvPr/>
        </p:nvSpPr>
        <p:spPr>
          <a:xfrm>
            <a:off x="3718449" y="1569477"/>
            <a:ext cx="4742402" cy="820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700">
                <a:solidFill>
                  <a:srgbClr val="F7941D"/>
                </a:solidFill>
              </a:defRPr>
            </a:lvl1pPr>
          </a:lstStyle>
          <a:p>
            <a:pPr/>
            <a:r>
              <a:t>PostDoc Beta 1</a:t>
            </a:r>
          </a:p>
        </p:txBody>
      </p:sp>
      <p:sp>
        <p:nvSpPr>
          <p:cNvPr id="118" name="What Does the App do?"/>
          <p:cNvSpPr txBox="1"/>
          <p:nvPr/>
        </p:nvSpPr>
        <p:spPr>
          <a:xfrm>
            <a:off x="2357618" y="3232417"/>
            <a:ext cx="7464064" cy="850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What Does the App do?</a:t>
            </a:r>
          </a:p>
        </p:txBody>
      </p:sp>
      <p:sp>
        <p:nvSpPr>
          <p:cNvPr id="119" name="@"/>
          <p:cNvSpPr txBox="1"/>
          <p:nvPr/>
        </p:nvSpPr>
        <p:spPr>
          <a:xfrm>
            <a:off x="2088744" y="1355376"/>
            <a:ext cx="1126032" cy="124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0">
                <a:solidFill>
                  <a:srgbClr val="FFFFFF"/>
                </a:solidFill>
              </a:defRPr>
            </a:lvl1pPr>
          </a:lstStyle>
          <a:p>
            <a:pPr/>
            <a:r>
              <a:t>@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123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24" name="TextBox 4"/>
          <p:cNvSpPr txBox="1"/>
          <p:nvPr/>
        </p:nvSpPr>
        <p:spPr>
          <a:xfrm>
            <a:off x="502919" y="548640"/>
            <a:ext cx="10881361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7941D"/>
                </a:solidFill>
              </a:defRPr>
            </a:lvl1pPr>
          </a:lstStyle>
          <a:p>
            <a:pPr/>
            <a:r>
              <a:t>Beta 1 Target – What It Does</a:t>
            </a:r>
          </a:p>
        </p:txBody>
      </p:sp>
      <p:sp>
        <p:nvSpPr>
          <p:cNvPr id="125" name="Rectangle 5"/>
          <p:cNvSpPr/>
          <p:nvPr/>
        </p:nvSpPr>
        <p:spPr>
          <a:xfrm>
            <a:off x="365759" y="1463039"/>
            <a:ext cx="3474722" cy="1051561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6"/>
          <p:cNvSpPr txBox="1"/>
          <p:nvPr/>
        </p:nvSpPr>
        <p:spPr>
          <a:xfrm>
            <a:off x="548639" y="1536191"/>
            <a:ext cx="3200402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7941D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📤  </a:t>
            </a:r>
            <a:r>
              <a:t>Upload</a:t>
            </a:r>
          </a:p>
        </p:txBody>
      </p:sp>
      <p:sp>
        <p:nvSpPr>
          <p:cNvPr id="127" name="TextBox 7"/>
          <p:cNvSpPr txBox="1"/>
          <p:nvPr/>
        </p:nvSpPr>
        <p:spPr>
          <a:xfrm>
            <a:off x="548639" y="1920239"/>
            <a:ext cx="3200402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Drag-and-drop PDF upload with a clean admin interface</a:t>
            </a:r>
          </a:p>
        </p:txBody>
      </p:sp>
      <p:sp>
        <p:nvSpPr>
          <p:cNvPr id="128" name="Rectangle 8"/>
          <p:cNvSpPr/>
          <p:nvPr/>
        </p:nvSpPr>
        <p:spPr>
          <a:xfrm>
            <a:off x="4005071" y="1463039"/>
            <a:ext cx="3474721" cy="1051561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extBox 9"/>
          <p:cNvSpPr txBox="1"/>
          <p:nvPr/>
        </p:nvSpPr>
        <p:spPr>
          <a:xfrm>
            <a:off x="4187952" y="1536191"/>
            <a:ext cx="320040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7941D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🔗  </a:t>
            </a:r>
            <a:r>
              <a:t>Short Links</a:t>
            </a:r>
          </a:p>
        </p:txBody>
      </p:sp>
      <p:sp>
        <p:nvSpPr>
          <p:cNvPr id="130" name="TextBox 10"/>
          <p:cNvSpPr txBox="1"/>
          <p:nvPr/>
        </p:nvSpPr>
        <p:spPr>
          <a:xfrm>
            <a:off x="4187952" y="1920239"/>
            <a:ext cx="3200401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Every PDF gets a short, memorable URL instantly</a:t>
            </a:r>
          </a:p>
        </p:txBody>
      </p:sp>
      <p:sp>
        <p:nvSpPr>
          <p:cNvPr id="131" name="Rectangle 11"/>
          <p:cNvSpPr/>
          <p:nvPr/>
        </p:nvSpPr>
        <p:spPr>
          <a:xfrm>
            <a:off x="7644383" y="1463039"/>
            <a:ext cx="3474721" cy="1051561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12"/>
          <p:cNvSpPr txBox="1"/>
          <p:nvPr/>
        </p:nvSpPr>
        <p:spPr>
          <a:xfrm>
            <a:off x="7827263" y="1536191"/>
            <a:ext cx="320040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7941D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📧  </a:t>
            </a:r>
            <a:r>
              <a:t>Email Tracking</a:t>
            </a:r>
          </a:p>
        </p:txBody>
      </p:sp>
      <p:sp>
        <p:nvSpPr>
          <p:cNvPr id="133" name="TextBox 13"/>
          <p:cNvSpPr txBox="1"/>
          <p:nvPr/>
        </p:nvSpPr>
        <p:spPr>
          <a:xfrm>
            <a:off x="7827263" y="1920239"/>
            <a:ext cx="3200401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Optional: require visitors to enter email before download</a:t>
            </a:r>
          </a:p>
        </p:txBody>
      </p:sp>
      <p:sp>
        <p:nvSpPr>
          <p:cNvPr id="134" name="Rectangle 14"/>
          <p:cNvSpPr/>
          <p:nvPr/>
        </p:nvSpPr>
        <p:spPr>
          <a:xfrm>
            <a:off x="365759" y="2679192"/>
            <a:ext cx="3474722" cy="1051561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15"/>
          <p:cNvSpPr txBox="1"/>
          <p:nvPr/>
        </p:nvSpPr>
        <p:spPr>
          <a:xfrm>
            <a:off x="548639" y="2752344"/>
            <a:ext cx="3200402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7941D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📋  </a:t>
            </a:r>
            <a:r>
              <a:t>Doc Management</a:t>
            </a:r>
          </a:p>
        </p:txBody>
      </p:sp>
      <p:sp>
        <p:nvSpPr>
          <p:cNvPr id="136" name="TextBox 16"/>
          <p:cNvSpPr txBox="1"/>
          <p:nvPr/>
        </p:nvSpPr>
        <p:spPr>
          <a:xfrm>
            <a:off x="548639" y="3136392"/>
            <a:ext cx="3200402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Admin table showing all uploads, sizes, and download counts</a:t>
            </a:r>
          </a:p>
        </p:txBody>
      </p:sp>
      <p:sp>
        <p:nvSpPr>
          <p:cNvPr id="137" name="Rectangle 17"/>
          <p:cNvSpPr/>
          <p:nvPr/>
        </p:nvSpPr>
        <p:spPr>
          <a:xfrm>
            <a:off x="4005071" y="2679192"/>
            <a:ext cx="3474721" cy="1051561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TextBox 18"/>
          <p:cNvSpPr txBox="1"/>
          <p:nvPr/>
        </p:nvSpPr>
        <p:spPr>
          <a:xfrm>
            <a:off x="4187952" y="2752344"/>
            <a:ext cx="320040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7941D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📊  </a:t>
            </a:r>
            <a:r>
              <a:t>CSV Export</a:t>
            </a:r>
          </a:p>
        </p:txBody>
      </p:sp>
      <p:sp>
        <p:nvSpPr>
          <p:cNvPr id="139" name="TextBox 19"/>
          <p:cNvSpPr txBox="1"/>
          <p:nvPr/>
        </p:nvSpPr>
        <p:spPr>
          <a:xfrm>
            <a:off x="4187952" y="3136392"/>
            <a:ext cx="3200401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Export document lists or download events to a spreadsheet</a:t>
            </a:r>
          </a:p>
        </p:txBody>
      </p:sp>
      <p:sp>
        <p:nvSpPr>
          <p:cNvPr id="140" name="Rectangle 20"/>
          <p:cNvSpPr/>
          <p:nvPr/>
        </p:nvSpPr>
        <p:spPr>
          <a:xfrm>
            <a:off x="7644383" y="2679192"/>
            <a:ext cx="3474721" cy="1051561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TextBox 21"/>
          <p:cNvSpPr txBox="1"/>
          <p:nvPr/>
        </p:nvSpPr>
        <p:spPr>
          <a:xfrm>
            <a:off x="7827263" y="2752344"/>
            <a:ext cx="320040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7941D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👥  </a:t>
            </a:r>
            <a:r>
              <a:t>Multi-Admin</a:t>
            </a:r>
          </a:p>
        </p:txBody>
      </p:sp>
      <p:sp>
        <p:nvSpPr>
          <p:cNvPr id="142" name="TextBox 22"/>
          <p:cNvSpPr txBox="1"/>
          <p:nvPr/>
        </p:nvSpPr>
        <p:spPr>
          <a:xfrm>
            <a:off x="7827263" y="3136392"/>
            <a:ext cx="3200401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Multiple admin accounts, each with their own password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146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47" name="TextBox 4"/>
          <p:cNvSpPr txBox="1"/>
          <p:nvPr/>
        </p:nvSpPr>
        <p:spPr>
          <a:xfrm>
            <a:off x="502919" y="548640"/>
            <a:ext cx="10881361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7941D"/>
                </a:solidFill>
              </a:defRPr>
            </a:lvl1pPr>
          </a:lstStyle>
          <a:p>
            <a:pPr/>
            <a:r>
              <a:t>App Architecture</a:t>
            </a:r>
          </a:p>
        </p:txBody>
      </p:sp>
      <p:sp>
        <p:nvSpPr>
          <p:cNvPr id="148" name="Rectangle 5"/>
          <p:cNvSpPr/>
          <p:nvPr/>
        </p:nvSpPr>
        <p:spPr>
          <a:xfrm>
            <a:off x="365759" y="1371600"/>
            <a:ext cx="11430001" cy="4114800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" name="TextBox 6"/>
          <p:cNvSpPr txBox="1"/>
          <p:nvPr/>
        </p:nvSpPr>
        <p:spPr>
          <a:xfrm>
            <a:off x="756551" y="1584327"/>
            <a:ext cx="10881361" cy="3881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solidFill>
                  <a:srgbClr val="F7941D"/>
                </a:solidFill>
              </a:defRPr>
            </a:pPr>
            <a:r>
              <a:t>Architecture Overview (3-tier web application)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D0D8E4"/>
                </a:solidFill>
              </a:defRPr>
            </a:pPr>
            <a:r>
              <a:t>All routes are protected by JWT auth middleware — except the public /{slug} download route.</a:t>
            </a: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URL structure:  /login  /  /upload  /admin  /documents  /{slug}</a:t>
            </a:r>
          </a:p>
        </p:txBody>
      </p:sp>
      <p:sp>
        <p:nvSpPr>
          <p:cNvPr id="150" name="Browser"/>
          <p:cNvSpPr/>
          <p:nvPr/>
        </p:nvSpPr>
        <p:spPr>
          <a:xfrm>
            <a:off x="704217" y="2814214"/>
            <a:ext cx="1492480" cy="799222"/>
          </a:xfrm>
          <a:prstGeom prst="roundRect">
            <a:avLst>
              <a:gd name="adj" fmla="val 23836"/>
            </a:avLst>
          </a:prstGeom>
          <a:gradFill>
            <a:gsLst>
              <a:gs pos="0">
                <a:srgbClr val="FF953E"/>
              </a:gs>
              <a:gs pos="100000">
                <a:schemeClr val="accent6">
                  <a:hueOff val="-456778"/>
                  <a:satOff val="8290"/>
                  <a:lumOff val="2450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Browser</a:t>
            </a:r>
          </a:p>
        </p:txBody>
      </p:sp>
      <p:sp>
        <p:nvSpPr>
          <p:cNvPr id="151" name="HTTP Go Server"/>
          <p:cNvSpPr/>
          <p:nvPr/>
        </p:nvSpPr>
        <p:spPr>
          <a:xfrm>
            <a:off x="5652401" y="2814214"/>
            <a:ext cx="1492480" cy="799222"/>
          </a:xfrm>
          <a:prstGeom prst="roundRect">
            <a:avLst>
              <a:gd name="adj" fmla="val 23836"/>
            </a:avLst>
          </a:prstGeom>
          <a:gradFill>
            <a:gsLst>
              <a:gs pos="0">
                <a:srgbClr val="FF953E"/>
              </a:gs>
              <a:gs pos="100000">
                <a:schemeClr val="accent6">
                  <a:hueOff val="-456778"/>
                  <a:satOff val="8290"/>
                  <a:lumOff val="2450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HTTP Go Server</a:t>
            </a:r>
          </a:p>
        </p:txBody>
      </p:sp>
      <p:sp>
        <p:nvSpPr>
          <p:cNvPr id="152" name="SQLite3"/>
          <p:cNvSpPr/>
          <p:nvPr/>
        </p:nvSpPr>
        <p:spPr>
          <a:xfrm>
            <a:off x="7198466" y="2504707"/>
            <a:ext cx="1074310" cy="1418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fill="norm" stroke="1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gradFill>
            <a:gsLst>
              <a:gs pos="0">
                <a:srgbClr val="FF953E"/>
              </a:gs>
              <a:gs pos="100000">
                <a:schemeClr val="accent6">
                  <a:hueOff val="-456778"/>
                  <a:satOff val="8290"/>
                  <a:lumOff val="2450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SQLite3</a:t>
            </a:r>
          </a:p>
        </p:txBody>
      </p:sp>
      <p:sp>
        <p:nvSpPr>
          <p:cNvPr id="153" name="Internet"/>
          <p:cNvSpPr/>
          <p:nvPr/>
        </p:nvSpPr>
        <p:spPr>
          <a:xfrm>
            <a:off x="3038639" y="2672949"/>
            <a:ext cx="1493092" cy="8998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gradFill>
            <a:gsLst>
              <a:gs pos="0">
                <a:srgbClr val="FF953E"/>
              </a:gs>
              <a:gs pos="100000">
                <a:schemeClr val="accent6">
                  <a:hueOff val="-456778"/>
                  <a:satOff val="8290"/>
                  <a:lumOff val="2450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Internet</a:t>
            </a:r>
          </a:p>
        </p:txBody>
      </p:sp>
      <p:sp>
        <p:nvSpPr>
          <p:cNvPr id="154" name="Line"/>
          <p:cNvSpPr/>
          <p:nvPr/>
        </p:nvSpPr>
        <p:spPr>
          <a:xfrm>
            <a:off x="2244090" y="3330766"/>
            <a:ext cx="3360918" cy="1"/>
          </a:xfrm>
          <a:prstGeom prst="line">
            <a:avLst/>
          </a:prstGeom>
          <a:ln w="88900">
            <a:solidFill>
              <a:schemeClr val="accent5">
                <a:lumOff val="11617"/>
              </a:schemeClr>
            </a:solidFill>
            <a:headEnd type="triangle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" name="Text Document"/>
          <p:cNvSpPr/>
          <p:nvPr/>
        </p:nvSpPr>
        <p:spPr>
          <a:xfrm>
            <a:off x="6586315" y="3856045"/>
            <a:ext cx="537915" cy="6965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7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FF953E"/>
              </a:gs>
              <a:gs pos="100000">
                <a:schemeClr val="accent6">
                  <a:hueOff val="-456778"/>
                  <a:satOff val="8290"/>
                  <a:lumOff val="2450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Text Document"/>
          <p:cNvSpPr/>
          <p:nvPr/>
        </p:nvSpPr>
        <p:spPr>
          <a:xfrm>
            <a:off x="7198466" y="3856045"/>
            <a:ext cx="537914" cy="6965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7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FF953E"/>
              </a:gs>
              <a:gs pos="100000">
                <a:schemeClr val="accent6">
                  <a:hueOff val="-456778"/>
                  <a:satOff val="8290"/>
                  <a:lumOff val="2450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 Document"/>
          <p:cNvSpPr/>
          <p:nvPr/>
        </p:nvSpPr>
        <p:spPr>
          <a:xfrm>
            <a:off x="7810617" y="3856045"/>
            <a:ext cx="537914" cy="6965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7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FF953E"/>
              </a:gs>
              <a:gs pos="100000">
                <a:schemeClr val="accent6">
                  <a:hueOff val="-456778"/>
                  <a:satOff val="8290"/>
                  <a:lumOff val="2450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ext Document"/>
          <p:cNvSpPr/>
          <p:nvPr/>
        </p:nvSpPr>
        <p:spPr>
          <a:xfrm>
            <a:off x="8422767" y="3856045"/>
            <a:ext cx="537914" cy="6965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7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gradFill>
            <a:gsLst>
              <a:gs pos="0">
                <a:srgbClr val="FF953E"/>
              </a:gs>
              <a:gs pos="100000">
                <a:schemeClr val="accent6">
                  <a:hueOff val="-456778"/>
                  <a:satOff val="8290"/>
                  <a:lumOff val="24503"/>
                </a:schemeClr>
              </a:gs>
            </a:gsLst>
            <a:lin ang="16200000"/>
          </a:gra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Uploads"/>
          <p:cNvSpPr txBox="1"/>
          <p:nvPr/>
        </p:nvSpPr>
        <p:spPr>
          <a:xfrm>
            <a:off x="5649290" y="4037796"/>
            <a:ext cx="86294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Uploads</a:t>
            </a:r>
          </a:p>
        </p:txBody>
      </p:sp>
      <p:sp>
        <p:nvSpPr>
          <p:cNvPr id="160" name="Line"/>
          <p:cNvSpPr/>
          <p:nvPr/>
        </p:nvSpPr>
        <p:spPr>
          <a:xfrm>
            <a:off x="6159431" y="3516561"/>
            <a:ext cx="547440" cy="547439"/>
          </a:xfrm>
          <a:prstGeom prst="line">
            <a:avLst/>
          </a:prstGeom>
          <a:ln w="25400">
            <a:solidFill>
              <a:schemeClr val="accent1"/>
            </a:solidFill>
            <a:headEnd type="triangle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65" name="TextBox 4"/>
          <p:cNvSpPr txBox="1"/>
          <p:nvPr/>
        </p:nvSpPr>
        <p:spPr>
          <a:xfrm>
            <a:off x="502919" y="548640"/>
            <a:ext cx="10881361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7941D"/>
                </a:solidFill>
              </a:defRPr>
            </a:lvl1pPr>
          </a:lstStyle>
          <a:p>
            <a:pPr/>
            <a:r>
              <a:t>Beta 1 UI – The Login Page</a:t>
            </a:r>
          </a:p>
        </p:txBody>
      </p:sp>
      <p:sp>
        <p:nvSpPr>
          <p:cNvPr id="166" name="Rectangle 5"/>
          <p:cNvSpPr/>
          <p:nvPr/>
        </p:nvSpPr>
        <p:spPr>
          <a:xfrm>
            <a:off x="457199" y="1371600"/>
            <a:ext cx="5303522" cy="4572000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6"/>
          <p:cNvSpPr txBox="1"/>
          <p:nvPr/>
        </p:nvSpPr>
        <p:spPr>
          <a:xfrm>
            <a:off x="685800" y="1554480"/>
            <a:ext cx="4937760" cy="192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D0D8E4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┌─────────────────────────────┐</a:t>
            </a:r>
          </a:p>
          <a:p>
            <a:pPr>
              <a:defRPr sz="1300">
                <a:solidFill>
                  <a:srgbClr val="FFFFFF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│      ZCW PostDoc            │</a:t>
            </a:r>
          </a:p>
          <a:p>
            <a:pPr>
              <a:defRPr sz="1300">
                <a:solidFill>
                  <a:srgbClr val="D0D8E4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│  Admin access required.     │</a:t>
            </a:r>
          </a:p>
          <a:p>
            <a:pPr>
              <a:defRPr sz="1300">
                <a:solidFill>
                  <a:srgbClr val="D0D8E4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│                             │</a:t>
            </a:r>
          </a:p>
          <a:p>
            <a:pPr>
              <a:defRPr sz="1300">
                <a:solidFill>
                  <a:srgbClr val="FFFFFF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│  Username  [____________]   │</a:t>
            </a:r>
          </a:p>
          <a:p>
            <a:pPr>
              <a:defRPr sz="1300">
                <a:solidFill>
                  <a:srgbClr val="FFFFFF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│  Password  [____________]   │</a:t>
            </a:r>
          </a:p>
          <a:p>
            <a:pPr>
              <a:defRPr sz="1300">
                <a:solidFill>
                  <a:srgbClr val="D0D8E4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│                             │</a:t>
            </a:r>
          </a:p>
          <a:p>
            <a:pPr>
              <a:defRPr sz="1300">
                <a:solidFill>
                  <a:srgbClr val="F7941D"/>
                </a:solidFill>
                <a:latin typeface="Anonymous Pro Bold"/>
                <a:ea typeface="Anonymous Pro Bold"/>
                <a:cs typeface="Anonymous Pro Bold"/>
                <a:sym typeface="Anonymous Pro Bold"/>
              </a:defRPr>
            </a:pPr>
            <a:r>
              <a:t>│      [  Sign in  ]          │</a:t>
            </a:r>
          </a:p>
          <a:p>
            <a:pPr>
              <a:defRPr sz="1300">
                <a:solidFill>
                  <a:srgbClr val="D0D8E4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└─────────────────────────────┘</a:t>
            </a:r>
          </a:p>
        </p:txBody>
      </p:sp>
      <p:sp>
        <p:nvSpPr>
          <p:cNvPr id="168" name="Rectangle 7"/>
          <p:cNvSpPr/>
          <p:nvPr/>
        </p:nvSpPr>
        <p:spPr>
          <a:xfrm>
            <a:off x="6035040" y="1371600"/>
            <a:ext cx="5760721" cy="4572000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8"/>
          <p:cNvSpPr txBox="1"/>
          <p:nvPr/>
        </p:nvSpPr>
        <p:spPr>
          <a:xfrm>
            <a:off x="6263640" y="1463039"/>
            <a:ext cx="5394960" cy="2256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>
                <a:solidFill>
                  <a:srgbClr val="F7941D"/>
                </a:solidFill>
              </a:defRPr>
            </a:pPr>
            <a:r>
              <a:t>Key Points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Any protected page redirects to /login if no valid session is found.</a:t>
            </a:r>
          </a:p>
          <a:p>
            <a:pPr>
              <a:defRPr sz="5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00B4D8"/>
                </a:solidFill>
              </a:defRPr>
            </a:pPr>
            <a:r>
              <a:t>• Default credentials on fresh install: admin / foobar</a:t>
            </a:r>
          </a:p>
          <a:p>
            <a:pPr>
              <a:defRPr sz="5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Wrong credentials show a red error banner above the form.</a:t>
            </a:r>
          </a:p>
          <a:p>
            <a:pPr>
              <a:defRPr sz="5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D0D8E4"/>
                </a:solidFill>
              </a:defRPr>
            </a:pPr>
            <a:r>
              <a:t>• After login, a JWT is stored in an HTTP-only cookie — the browser sends it on every request automatically.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173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74" name="TextBox 4"/>
          <p:cNvSpPr txBox="1"/>
          <p:nvPr/>
        </p:nvSpPr>
        <p:spPr>
          <a:xfrm>
            <a:off x="502919" y="548640"/>
            <a:ext cx="10881361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7941D"/>
                </a:solidFill>
              </a:defRPr>
            </a:lvl1pPr>
          </a:lstStyle>
          <a:p>
            <a:pPr/>
            <a:r>
              <a:t>Beta 1 UI – The Upload Page</a:t>
            </a:r>
          </a:p>
        </p:txBody>
      </p:sp>
      <p:sp>
        <p:nvSpPr>
          <p:cNvPr id="175" name="Rectangle 5"/>
          <p:cNvSpPr/>
          <p:nvPr/>
        </p:nvSpPr>
        <p:spPr>
          <a:xfrm>
            <a:off x="457200" y="1371599"/>
            <a:ext cx="5486400" cy="4663442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TextBox 6"/>
          <p:cNvSpPr txBox="1"/>
          <p:nvPr/>
        </p:nvSpPr>
        <p:spPr>
          <a:xfrm>
            <a:off x="640080" y="1508760"/>
            <a:ext cx="5120640" cy="2317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D0D8E4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┌──────────────────────────────────┐</a:t>
            </a:r>
          </a:p>
          <a:p>
            <a:pPr>
              <a:defRPr sz="1200">
                <a:solidFill>
                  <a:srgbClr val="FFFFFF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│         ZCW PostDoc              │</a:t>
            </a:r>
          </a:p>
          <a:p>
            <a:pPr>
              <a:defRPr sz="1200">
                <a:solidFill>
                  <a:srgbClr val="D0D8E4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│  ⚙ Admin  📄 Documents  Sign out │</a:t>
            </a:r>
          </a:p>
          <a:p>
            <a:pPr>
              <a:defRPr sz="1200">
                <a:solidFill>
                  <a:srgbClr val="D0D8E4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│                                  │</a:t>
            </a:r>
          </a:p>
          <a:p>
            <a:pPr>
              <a:defRPr sz="1200">
                <a:solidFill>
                  <a:srgbClr val="D0D8E4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│  ┌──────────────────────────┐    │</a:t>
            </a:r>
          </a:p>
          <a:p>
            <a:pPr>
              <a:defRPr sz="1200">
                <a:solidFill>
                  <a:srgbClr val="FFFFFF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│  │  ↑ Drop PDF here         │    │</a:t>
            </a:r>
          </a:p>
          <a:p>
            <a:pPr>
              <a:defRPr sz="1200">
                <a:solidFill>
                  <a:srgbClr val="D0D8E4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│  └──────────────────────────┘    │</a:t>
            </a:r>
          </a:p>
          <a:p>
            <a:pPr>
              <a:defRPr sz="1200">
                <a:solidFill>
                  <a:srgbClr val="D0D8E4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│                                  │</a:t>
            </a:r>
          </a:p>
          <a:p>
            <a:pPr>
              <a:defRPr sz="1200">
                <a:solidFill>
                  <a:srgbClr val="F7941D"/>
                </a:solidFill>
                <a:latin typeface="Anonymous Pro Bold"/>
                <a:ea typeface="Anonymous Pro Bold"/>
                <a:cs typeface="Anonymous Pro Bold"/>
                <a:sym typeface="Anonymous Pro Bold"/>
              </a:defRPr>
            </a:pPr>
            <a:r>
              <a:t>│     [ Upload &amp; Get Link ]        │</a:t>
            </a:r>
          </a:p>
          <a:p>
            <a:pPr>
              <a:defRPr sz="1200">
                <a:solidFill>
                  <a:srgbClr val="FFFFFF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│  ☐  Track downloads (email)      │</a:t>
            </a:r>
          </a:p>
          <a:p>
            <a:pPr>
              <a:defRPr sz="1200">
                <a:solidFill>
                  <a:srgbClr val="D0D8E4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│  Only PDF files. Max 32 MB.      │</a:t>
            </a:r>
          </a:p>
          <a:p>
            <a:pPr>
              <a:defRPr sz="1200">
                <a:solidFill>
                  <a:srgbClr val="D0D8E4"/>
                </a:solidFill>
                <a:latin typeface="Anonymous Pro Regular"/>
                <a:ea typeface="Anonymous Pro Regular"/>
                <a:cs typeface="Anonymous Pro Regular"/>
                <a:sym typeface="Anonymous Pro Regular"/>
              </a:defRPr>
            </a:pPr>
            <a:r>
              <a:t>└──────────────────────────────────┘</a:t>
            </a:r>
          </a:p>
        </p:txBody>
      </p:sp>
      <p:sp>
        <p:nvSpPr>
          <p:cNvPr id="177" name="Rectangle 7"/>
          <p:cNvSpPr/>
          <p:nvPr/>
        </p:nvSpPr>
        <p:spPr>
          <a:xfrm>
            <a:off x="6126479" y="1371599"/>
            <a:ext cx="5669281" cy="4663442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" name="TextBox 8"/>
          <p:cNvSpPr txBox="1"/>
          <p:nvPr/>
        </p:nvSpPr>
        <p:spPr>
          <a:xfrm>
            <a:off x="6355079" y="1463039"/>
            <a:ext cx="5303521" cy="2256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>
                <a:solidFill>
                  <a:srgbClr val="F7941D"/>
                </a:solidFill>
              </a:defRPr>
            </a:pPr>
            <a:r>
              <a:t>Key Points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Drag-and-drop zone or click to open file picker.</a:t>
            </a:r>
          </a:p>
          <a:p>
            <a:pPr>
              <a:defRPr sz="5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Only .pdf files accepted (client + server validation).</a:t>
            </a:r>
          </a:p>
          <a:p>
            <a:pPr>
              <a:defRPr sz="5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00B4D8"/>
                </a:solidFill>
              </a:defRPr>
            </a:pPr>
            <a:r>
              <a:t>• 'Track downloads' checkbox: when checked, visitors must enter email before download. Email + timestamp saved to DB.</a:t>
            </a:r>
          </a:p>
          <a:p>
            <a:pPr>
              <a:defRPr sz="5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D0D8E4"/>
                </a:solidFill>
              </a:defRPr>
            </a:pPr>
            <a:r>
              <a:t>• After upload: a Success page shows the short URL with a one-click Copy button.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182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83" name="TextBox 4"/>
          <p:cNvSpPr txBox="1"/>
          <p:nvPr/>
        </p:nvSpPr>
        <p:spPr>
          <a:xfrm>
            <a:off x="502919" y="548640"/>
            <a:ext cx="10881361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7941D"/>
                </a:solidFill>
              </a:defRPr>
            </a:lvl1pPr>
          </a:lstStyle>
          <a:p>
            <a:pPr/>
            <a:r>
              <a:t>Beta 1 UI – Documents &amp; Download Events</a:t>
            </a:r>
          </a:p>
        </p:txBody>
      </p:sp>
      <p:sp>
        <p:nvSpPr>
          <p:cNvPr id="184" name="Rectangle 5"/>
          <p:cNvSpPr/>
          <p:nvPr/>
        </p:nvSpPr>
        <p:spPr>
          <a:xfrm>
            <a:off x="457200" y="1371600"/>
            <a:ext cx="11338560" cy="2194561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extBox 6"/>
          <p:cNvSpPr txBox="1"/>
          <p:nvPr/>
        </p:nvSpPr>
        <p:spPr>
          <a:xfrm>
            <a:off x="685800" y="1463039"/>
            <a:ext cx="10881360" cy="1255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F7941D"/>
                </a:solidFill>
              </a:defRPr>
            </a:pPr>
            <a:r>
              <a:t>Documents Page (/documents)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☐  report.pdf      10 Mar   admin   1.2 MB   3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📋     </a:t>
            </a:r>
            <a:r>
              <a:t>[short link]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☐  slides.pdf      11 Mar   admin   4.7 MB   0          [short link]</a:t>
            </a: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1400">
                <a:solidFill>
                  <a:srgbClr val="00B4D8"/>
                </a:solidFill>
              </a:defRPr>
            </a:pPr>
            <a:r>
              <a:t>[Delete Selected]                   ◄ Prev  1  Next ►        [Download CSV]</a:t>
            </a:r>
          </a:p>
        </p:txBody>
      </p:sp>
      <p:sp>
        <p:nvSpPr>
          <p:cNvPr id="186" name="Rectangle 7"/>
          <p:cNvSpPr/>
          <p:nvPr/>
        </p:nvSpPr>
        <p:spPr>
          <a:xfrm>
            <a:off x="457200" y="3749038"/>
            <a:ext cx="11338560" cy="1645922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8"/>
          <p:cNvSpPr txBox="1"/>
          <p:nvPr/>
        </p:nvSpPr>
        <p:spPr>
          <a:xfrm>
            <a:off x="685800" y="3840479"/>
            <a:ext cx="10881360" cy="99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F7941D"/>
                </a:solidFill>
              </a:defRPr>
            </a:pPr>
            <a:r>
              <a:t>Download Events Page (/documents/{id}/downloads)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alice@example.com    2026-03-11 09:14:02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bob@example.com      2026-03-11 10:30:55</a:t>
            </a:r>
          </a:p>
          <a:p>
            <a:pPr>
              <a:defRPr sz="1400">
                <a:solidFill>
                  <a:srgbClr val="00B4D8"/>
                </a:solidFill>
              </a:defRPr>
            </a:pPr>
            <a:r>
              <a:t>                                                   [Download CSV]</a:t>
            </a:r>
          </a:p>
        </p:txBody>
      </p:sp>
      <p:sp>
        <p:nvSpPr>
          <p:cNvPr id="188" name="TextBox 9"/>
          <p:cNvSpPr txBox="1"/>
          <p:nvPr/>
        </p:nvSpPr>
        <p:spPr>
          <a:xfrm>
            <a:off x="502920" y="5532120"/>
            <a:ext cx="11247120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D0D8E4"/>
                </a:solidFill>
              </a:defRPr>
            </a:lvl1pPr>
          </a:lstStyle>
          <a:p>
            <a:pPr/>
            <a:r>
              <a:t>Admins can view all uploads · bulk delete · see who downloaded · export to CSV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192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93" name="TextBox 4"/>
          <p:cNvSpPr txBox="1"/>
          <p:nvPr/>
        </p:nvSpPr>
        <p:spPr>
          <a:xfrm>
            <a:off x="502919" y="548640"/>
            <a:ext cx="10881361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7941D"/>
                </a:solidFill>
              </a:defRPr>
            </a:lvl1pPr>
          </a:lstStyle>
          <a:p>
            <a:pPr/>
            <a:r>
              <a:t>Tech Stack</a:t>
            </a:r>
          </a:p>
        </p:txBody>
      </p:sp>
      <p:sp>
        <p:nvSpPr>
          <p:cNvPr id="194" name="Rectangle 5"/>
          <p:cNvSpPr/>
          <p:nvPr/>
        </p:nvSpPr>
        <p:spPr>
          <a:xfrm>
            <a:off x="365759" y="1417319"/>
            <a:ext cx="11430001" cy="41148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TextBox 6"/>
          <p:cNvSpPr txBox="1"/>
          <p:nvPr/>
        </p:nvSpPr>
        <p:spPr>
          <a:xfrm>
            <a:off x="502920" y="1463039"/>
            <a:ext cx="1920240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07111A"/>
                </a:solidFill>
              </a:defRPr>
            </a:lvl1pPr>
          </a:lstStyle>
          <a:p>
            <a:pPr/>
            <a:r>
              <a:t>Layer</a:t>
            </a:r>
          </a:p>
        </p:txBody>
      </p:sp>
      <p:sp>
        <p:nvSpPr>
          <p:cNvPr id="196" name="TextBox 7"/>
          <p:cNvSpPr txBox="1"/>
          <p:nvPr/>
        </p:nvSpPr>
        <p:spPr>
          <a:xfrm>
            <a:off x="2514600" y="1463039"/>
            <a:ext cx="310896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07111A"/>
                </a:solidFill>
              </a:defRPr>
            </a:lvl1pPr>
          </a:lstStyle>
          <a:p>
            <a:pPr/>
            <a:r>
              <a:t>Technology</a:t>
            </a:r>
          </a:p>
        </p:txBody>
      </p:sp>
      <p:sp>
        <p:nvSpPr>
          <p:cNvPr id="197" name="TextBox 8"/>
          <p:cNvSpPr txBox="1"/>
          <p:nvPr/>
        </p:nvSpPr>
        <p:spPr>
          <a:xfrm>
            <a:off x="5714999" y="1463039"/>
            <a:ext cx="576072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07111A"/>
                </a:solidFill>
              </a:defRPr>
            </a:lvl1pPr>
          </a:lstStyle>
          <a:p>
            <a:pPr/>
            <a:r>
              <a:t>Why It Was Chosen</a:t>
            </a:r>
          </a:p>
        </p:txBody>
      </p:sp>
      <p:sp>
        <p:nvSpPr>
          <p:cNvPr id="198" name="Rectangle 9"/>
          <p:cNvSpPr/>
          <p:nvPr/>
        </p:nvSpPr>
        <p:spPr>
          <a:xfrm>
            <a:off x="365759" y="1828800"/>
            <a:ext cx="11430001" cy="749809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TextBox 10"/>
          <p:cNvSpPr txBox="1"/>
          <p:nvPr/>
        </p:nvSpPr>
        <p:spPr>
          <a:xfrm>
            <a:off x="502920" y="1920239"/>
            <a:ext cx="19202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Language</a:t>
            </a:r>
          </a:p>
        </p:txBody>
      </p:sp>
      <p:sp>
        <p:nvSpPr>
          <p:cNvPr id="200" name="TextBox 11"/>
          <p:cNvSpPr txBox="1"/>
          <p:nvPr/>
        </p:nvSpPr>
        <p:spPr>
          <a:xfrm>
            <a:off x="2514600" y="1920239"/>
            <a:ext cx="31089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00B4D8"/>
                </a:solidFill>
              </a:defRPr>
            </a:lvl1pPr>
          </a:lstStyle>
          <a:p>
            <a:pPr/>
            <a:r>
              <a:t>Go 1.24+</a:t>
            </a:r>
          </a:p>
        </p:txBody>
      </p:sp>
      <p:sp>
        <p:nvSpPr>
          <p:cNvPr id="201" name="TextBox 12"/>
          <p:cNvSpPr txBox="1"/>
          <p:nvPr/>
        </p:nvSpPr>
        <p:spPr>
          <a:xfrm>
            <a:off x="5714999" y="1920239"/>
            <a:ext cx="57607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Fast, statically typed, single binary output</a:t>
            </a:r>
          </a:p>
        </p:txBody>
      </p:sp>
      <p:sp>
        <p:nvSpPr>
          <p:cNvPr id="202" name="Rectangle 13"/>
          <p:cNvSpPr/>
          <p:nvPr/>
        </p:nvSpPr>
        <p:spPr>
          <a:xfrm>
            <a:off x="365759" y="2633472"/>
            <a:ext cx="11430001" cy="749809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TextBox 14"/>
          <p:cNvSpPr txBox="1"/>
          <p:nvPr/>
        </p:nvSpPr>
        <p:spPr>
          <a:xfrm>
            <a:off x="502920" y="2724911"/>
            <a:ext cx="19202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Database</a:t>
            </a:r>
          </a:p>
        </p:txBody>
      </p:sp>
      <p:sp>
        <p:nvSpPr>
          <p:cNvPr id="204" name="TextBox 15"/>
          <p:cNvSpPr txBox="1"/>
          <p:nvPr/>
        </p:nvSpPr>
        <p:spPr>
          <a:xfrm>
            <a:off x="2514600" y="2724911"/>
            <a:ext cx="31089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00B4D8"/>
                </a:solidFill>
              </a:defRPr>
            </a:lvl1pPr>
          </a:lstStyle>
          <a:p>
            <a:pPr/>
            <a:r>
              <a:t>SQLite 3 (WAL mode)</a:t>
            </a:r>
          </a:p>
        </p:txBody>
      </p:sp>
      <p:sp>
        <p:nvSpPr>
          <p:cNvPr id="205" name="TextBox 16"/>
          <p:cNvSpPr txBox="1"/>
          <p:nvPr/>
        </p:nvSpPr>
        <p:spPr>
          <a:xfrm>
            <a:off x="5714999" y="2724911"/>
            <a:ext cx="57607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Zero-config, file-based, reliable for small-to-medium load</a:t>
            </a:r>
          </a:p>
        </p:txBody>
      </p:sp>
      <p:sp>
        <p:nvSpPr>
          <p:cNvPr id="206" name="Rectangle 17"/>
          <p:cNvSpPr/>
          <p:nvPr/>
        </p:nvSpPr>
        <p:spPr>
          <a:xfrm>
            <a:off x="365759" y="3438144"/>
            <a:ext cx="11430001" cy="749809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18"/>
          <p:cNvSpPr txBox="1"/>
          <p:nvPr/>
        </p:nvSpPr>
        <p:spPr>
          <a:xfrm>
            <a:off x="502920" y="3529584"/>
            <a:ext cx="19202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Auth</a:t>
            </a:r>
          </a:p>
        </p:txBody>
      </p:sp>
      <p:sp>
        <p:nvSpPr>
          <p:cNvPr id="208" name="TextBox 19"/>
          <p:cNvSpPr txBox="1"/>
          <p:nvPr/>
        </p:nvSpPr>
        <p:spPr>
          <a:xfrm>
            <a:off x="2514600" y="3529584"/>
            <a:ext cx="31089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00B4D8"/>
                </a:solidFill>
              </a:defRPr>
            </a:lvl1pPr>
          </a:lstStyle>
          <a:p>
            <a:pPr/>
            <a:r>
              <a:t>JWT (HS256, HTTP-only cookie)</a:t>
            </a:r>
          </a:p>
        </p:txBody>
      </p:sp>
      <p:sp>
        <p:nvSpPr>
          <p:cNvPr id="209" name="TextBox 20"/>
          <p:cNvSpPr txBox="1"/>
          <p:nvPr/>
        </p:nvSpPr>
        <p:spPr>
          <a:xfrm>
            <a:off x="5714999" y="3529584"/>
            <a:ext cx="57607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Stateless, secure, no server-side session storage needed</a:t>
            </a:r>
          </a:p>
        </p:txBody>
      </p:sp>
      <p:sp>
        <p:nvSpPr>
          <p:cNvPr id="210" name="Rectangle 21"/>
          <p:cNvSpPr/>
          <p:nvPr/>
        </p:nvSpPr>
        <p:spPr>
          <a:xfrm>
            <a:off x="365759" y="4242815"/>
            <a:ext cx="11430001" cy="749809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TextBox 22"/>
          <p:cNvSpPr txBox="1"/>
          <p:nvPr/>
        </p:nvSpPr>
        <p:spPr>
          <a:xfrm>
            <a:off x="502920" y="4334255"/>
            <a:ext cx="19202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Templates</a:t>
            </a:r>
          </a:p>
        </p:txBody>
      </p:sp>
      <p:sp>
        <p:nvSpPr>
          <p:cNvPr id="212" name="TextBox 23"/>
          <p:cNvSpPr txBox="1"/>
          <p:nvPr/>
        </p:nvSpPr>
        <p:spPr>
          <a:xfrm>
            <a:off x="2514600" y="4334255"/>
            <a:ext cx="31089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00B4D8"/>
                </a:solidFill>
              </a:defRPr>
            </a:lvl1pPr>
          </a:lstStyle>
          <a:p>
            <a:pPr/>
            <a:r>
              <a:t>Go html/template</a:t>
            </a:r>
          </a:p>
        </p:txBody>
      </p:sp>
      <p:sp>
        <p:nvSpPr>
          <p:cNvPr id="213" name="TextBox 24"/>
          <p:cNvSpPr txBox="1"/>
          <p:nvPr/>
        </p:nvSpPr>
        <p:spPr>
          <a:xfrm>
            <a:off x="5714999" y="4334255"/>
            <a:ext cx="57607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Built-in, safe from XSS injection by default</a:t>
            </a:r>
          </a:p>
        </p:txBody>
      </p:sp>
      <p:sp>
        <p:nvSpPr>
          <p:cNvPr id="214" name="Rectangle 25"/>
          <p:cNvSpPr/>
          <p:nvPr/>
        </p:nvSpPr>
        <p:spPr>
          <a:xfrm>
            <a:off x="365759" y="5047488"/>
            <a:ext cx="11430001" cy="749809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" name="TextBox 26"/>
          <p:cNvSpPr txBox="1"/>
          <p:nvPr/>
        </p:nvSpPr>
        <p:spPr>
          <a:xfrm>
            <a:off x="502920" y="5138928"/>
            <a:ext cx="19202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Deployment</a:t>
            </a:r>
          </a:p>
        </p:txBody>
      </p:sp>
      <p:sp>
        <p:nvSpPr>
          <p:cNvPr id="216" name="TextBox 27"/>
          <p:cNvSpPr txBox="1"/>
          <p:nvPr/>
        </p:nvSpPr>
        <p:spPr>
          <a:xfrm>
            <a:off x="2514600" y="5138928"/>
            <a:ext cx="31089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00B4D8"/>
                </a:solidFill>
              </a:defRPr>
            </a:lvl1pPr>
          </a:lstStyle>
          <a:p>
            <a:pPr/>
            <a:r>
              <a:t>Docker / Docker Compose</a:t>
            </a:r>
          </a:p>
        </p:txBody>
      </p:sp>
      <p:sp>
        <p:nvSpPr>
          <p:cNvPr id="217" name="TextBox 28"/>
          <p:cNvSpPr txBox="1"/>
          <p:nvPr/>
        </p:nvSpPr>
        <p:spPr>
          <a:xfrm>
            <a:off x="5714999" y="5138928"/>
            <a:ext cx="57607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Reproducible builds, persistent volumes, health checks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221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22" name="TextBox 4"/>
          <p:cNvSpPr txBox="1"/>
          <p:nvPr/>
        </p:nvSpPr>
        <p:spPr>
          <a:xfrm>
            <a:off x="502919" y="548640"/>
            <a:ext cx="10881361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7941D"/>
                </a:solidFill>
              </a:defRPr>
            </a:lvl1pPr>
          </a:lstStyle>
          <a:p>
            <a:pPr/>
            <a:r>
              <a:t>What is Issue-Driven Development?</a:t>
            </a:r>
          </a:p>
        </p:txBody>
      </p:sp>
      <p:sp>
        <p:nvSpPr>
          <p:cNvPr id="223" name="Rectangle 5"/>
          <p:cNvSpPr/>
          <p:nvPr/>
        </p:nvSpPr>
        <p:spPr>
          <a:xfrm>
            <a:off x="365759" y="1371600"/>
            <a:ext cx="11430001" cy="4800600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extBox 6"/>
          <p:cNvSpPr txBox="1"/>
          <p:nvPr/>
        </p:nvSpPr>
        <p:spPr>
          <a:xfrm>
            <a:off x="594359" y="1463039"/>
            <a:ext cx="10972801" cy="3211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solidFill>
                  <a:srgbClr val="FFFFFF"/>
                </a:solidFill>
              </a:defRPr>
            </a:pPr>
            <a:r>
              <a:t>Every meaningful code change starts with a written issue.</a:t>
            </a: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✅  </a:t>
            </a:r>
            <a:r>
              <a:t>Forces you to think clearly about WHAT to build before you build it.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✅  </a:t>
            </a:r>
            <a:r>
              <a:t>Closed issues form a living history of the project — why the code is the way it is.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✅  </a:t>
            </a:r>
            <a:r>
              <a:t>Naturally creates small, focused pieces of work instead of one giant untestable change.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✅  </a:t>
            </a:r>
            <a:r>
              <a:t>In a team, issues make it easy to divide work: 'I'll take #4, you take #6.'</a:t>
            </a:r>
          </a:p>
          <a:p>
            <a:pPr>
              <a:defRPr sz="1000">
                <a:solidFill>
                  <a:srgbClr val="FFFFFF"/>
                </a:solidFill>
              </a:defRPr>
            </a:pPr>
          </a:p>
          <a:p>
            <a:pPr>
              <a:defRPr b="1" sz="1900">
                <a:solidFill>
                  <a:srgbClr val="F7941D"/>
                </a:solidFill>
              </a:defRPr>
            </a:pPr>
            <a:r>
              <a:t>IDD for PostDoc: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00B4D8"/>
                </a:solidFill>
              </a:defRPr>
            </a:pPr>
            <a:r>
              <a:t>Start → #2 Security → #4 Passwords → #6 Docker → #8 Bug Fix → #10 Admin UI → #12 Tracking → #14 Bug Fix → #16 CSV</a:t>
            </a: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1500">
                <a:solidFill>
                  <a:srgbClr val="D0D8E4"/>
                </a:solidFill>
              </a:defRPr>
            </a:pPr>
            <a:r>
              <a:t>No special tool needed — GitHub Issues, a text file, or sticky notes all work.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228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29" name="TextBox 4"/>
          <p:cNvSpPr txBox="1"/>
          <p:nvPr/>
        </p:nvSpPr>
        <p:spPr>
          <a:xfrm>
            <a:off x="502919" y="548640"/>
            <a:ext cx="10881361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7941D"/>
                </a:solidFill>
              </a:defRPr>
            </a:lvl1pPr>
          </a:lstStyle>
          <a:p>
            <a:pPr/>
            <a:r>
              <a:t>Use standard GitHub Issues in the repo</a:t>
            </a:r>
          </a:p>
        </p:txBody>
      </p:sp>
      <p:pic>
        <p:nvPicPr>
          <p:cNvPr id="23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1771" y="1413536"/>
            <a:ext cx="9062314" cy="5220682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Oval"/>
          <p:cNvSpPr/>
          <p:nvPr/>
        </p:nvSpPr>
        <p:spPr>
          <a:xfrm>
            <a:off x="6606882" y="2678634"/>
            <a:ext cx="2959342" cy="839572"/>
          </a:xfrm>
          <a:prstGeom prst="ellipse">
            <a:avLst/>
          </a:prstGeom>
          <a:ln w="50800">
            <a:solidFill>
              <a:schemeClr val="accent6">
                <a:lumOff val="9460"/>
              </a:schemeClr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/>
          </a:p>
        </p:txBody>
      </p:sp>
      <p:sp>
        <p:nvSpPr>
          <p:cNvPr id="232" name="TextBox 4"/>
          <p:cNvSpPr txBox="1"/>
          <p:nvPr/>
        </p:nvSpPr>
        <p:spPr>
          <a:xfrm rot="1948352">
            <a:off x="7395761" y="1905358"/>
            <a:ext cx="4912790" cy="989966"/>
          </a:xfrm>
          <a:prstGeom prst="rect">
            <a:avLst/>
          </a:prstGeom>
          <a:ln>
            <a:solidFill>
              <a:schemeClr val="accent2">
                <a:lumOff val="23627"/>
              </a:schemeClr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5700">
                <a:solidFill>
                  <a:schemeClr val="accent2">
                    <a:lumOff val="11813"/>
                  </a:schemeClr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pPr/>
            <a:r>
              <a:t>Whoa! What?!?</a:t>
            </a:r>
          </a:p>
        </p:txBody>
      </p:sp>
      <p:sp>
        <p:nvSpPr>
          <p:cNvPr id="233" name="Copilot goes off and plans, codes, tests, &amp; creates a Pull Request for you to approve."/>
          <p:cNvSpPr txBox="1"/>
          <p:nvPr/>
        </p:nvSpPr>
        <p:spPr>
          <a:xfrm>
            <a:off x="9673044" y="4131684"/>
            <a:ext cx="2149529" cy="1209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chemeClr val="accent6">
                    <a:lumOff val="9460"/>
                  </a:schemeClr>
                </a:solidFill>
              </a:defRPr>
            </a:lvl1pPr>
          </a:lstStyle>
          <a:p>
            <a:pPr/>
            <a:r>
              <a:t>Copilot goes off and plans, codes, tests, &amp; creates a Pull Request for you to approve.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237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38" name="TextBox 4"/>
          <p:cNvSpPr txBox="1"/>
          <p:nvPr/>
        </p:nvSpPr>
        <p:spPr>
          <a:xfrm>
            <a:off x="502919" y="548640"/>
            <a:ext cx="10881361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7941D"/>
                </a:solidFill>
              </a:defRPr>
            </a:lvl1pPr>
          </a:lstStyle>
          <a:p>
            <a:pPr/>
            <a:r>
              <a:t>Use standard GitHub Pull Requests in the repo</a:t>
            </a:r>
          </a:p>
        </p:txBody>
      </p:sp>
      <p:pic>
        <p:nvPicPr>
          <p:cNvPr id="23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4041" y="1114506"/>
            <a:ext cx="9152416" cy="5692958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You can review, and even ask for changes in the PR, until you like what you’re getting.…"/>
          <p:cNvSpPr txBox="1"/>
          <p:nvPr/>
        </p:nvSpPr>
        <p:spPr>
          <a:xfrm>
            <a:off x="9683151" y="1311746"/>
            <a:ext cx="2149529" cy="2669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chemeClr val="accent6">
                    <a:lumOff val="9460"/>
                  </a:schemeClr>
                </a:solidFill>
              </a:defRPr>
            </a:pPr>
            <a:r>
              <a:t>You can review, and even ask for changes in the PR, until you like what you’re getting.</a:t>
            </a:r>
          </a:p>
          <a:p>
            <a:pPr>
              <a:defRPr>
                <a:solidFill>
                  <a:schemeClr val="accent6">
                    <a:lumOff val="9460"/>
                  </a:schemeClr>
                </a:solidFill>
              </a:defRPr>
            </a:pPr>
          </a:p>
          <a:p>
            <a:pPr>
              <a:defRPr>
                <a:solidFill>
                  <a:schemeClr val="accent6">
                    <a:lumOff val="9460"/>
                  </a:schemeClr>
                </a:solidFill>
              </a:defRPr>
            </a:pPr>
            <a:r>
              <a:t>Although, if you write the issue well, you will prob not need to.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244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45" name="TextBox 4"/>
          <p:cNvSpPr txBox="1"/>
          <p:nvPr/>
        </p:nvSpPr>
        <p:spPr>
          <a:xfrm>
            <a:off x="3718449" y="1569477"/>
            <a:ext cx="4742402" cy="820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700">
                <a:solidFill>
                  <a:srgbClr val="F7941D"/>
                </a:solidFill>
              </a:defRPr>
            </a:lvl1pPr>
          </a:lstStyle>
          <a:p>
            <a:pPr/>
            <a:r>
              <a:t>PostDoc Beta 1</a:t>
            </a:r>
          </a:p>
        </p:txBody>
      </p:sp>
      <p:sp>
        <p:nvSpPr>
          <p:cNvPr id="246" name="So what was the journey?"/>
          <p:cNvSpPr txBox="1"/>
          <p:nvPr/>
        </p:nvSpPr>
        <p:spPr>
          <a:xfrm>
            <a:off x="2468798" y="3434563"/>
            <a:ext cx="8060121" cy="850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So what was the journey?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250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51" name="TextBox 4"/>
          <p:cNvSpPr txBox="1"/>
          <p:nvPr/>
        </p:nvSpPr>
        <p:spPr>
          <a:xfrm>
            <a:off x="502919" y="548640"/>
            <a:ext cx="10881361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7941D"/>
                </a:solidFill>
              </a:defRPr>
            </a:lvl1pPr>
          </a:lstStyle>
          <a:p>
            <a:pPr/>
            <a:r>
              <a:t>Issue #2 – Upload Security (JWT Auth)</a:t>
            </a:r>
          </a:p>
        </p:txBody>
      </p:sp>
      <p:sp>
        <p:nvSpPr>
          <p:cNvPr id="252" name="Rectangle 5"/>
          <p:cNvSpPr/>
          <p:nvPr/>
        </p:nvSpPr>
        <p:spPr>
          <a:xfrm>
            <a:off x="365759" y="1371600"/>
            <a:ext cx="5303522" cy="4754880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TextBox 6"/>
          <p:cNvSpPr txBox="1"/>
          <p:nvPr/>
        </p:nvSpPr>
        <p:spPr>
          <a:xfrm>
            <a:off x="594359" y="1463040"/>
            <a:ext cx="4937761" cy="2678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solidFill>
                  <a:srgbClr val="F7941D"/>
                </a:solidFill>
              </a:defRPr>
            </a:pPr>
            <a:r>
              <a:t>The Problem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Anyone who knew the server address could upload files.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No concept of 'who uploaded what.'</a:t>
            </a:r>
          </a:p>
          <a:p>
            <a:pPr>
              <a:defRPr sz="1000">
                <a:solidFill>
                  <a:srgbClr val="FFFFFF"/>
                </a:solidFill>
              </a:defRPr>
            </a:pPr>
          </a:p>
          <a:p>
            <a:pPr>
              <a:defRPr b="1" sz="2000">
                <a:solidFill>
                  <a:srgbClr val="F7941D"/>
                </a:solidFill>
              </a:defRPr>
            </a:pPr>
            <a:r>
              <a:t>The Solution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• admins table in SQLite (bcrypt-hashed passwords)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• POST /login → issues JWT in HTTP-only cookie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• Auth middleware wraps every protected route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• /admin page to add / delete admin accounts</a:t>
            </a:r>
          </a:p>
          <a:p>
            <a:pPr>
              <a:defRPr sz="1500">
                <a:solidFill>
                  <a:srgbClr val="00B4D8"/>
                </a:solidFill>
              </a:defRPr>
            </a:pPr>
            <a:r>
              <a:t>• Default admin / foobar on first run</a:t>
            </a:r>
          </a:p>
        </p:txBody>
      </p:sp>
      <p:sp>
        <p:nvSpPr>
          <p:cNvPr id="254" name="Rectangle 7"/>
          <p:cNvSpPr/>
          <p:nvPr/>
        </p:nvSpPr>
        <p:spPr>
          <a:xfrm>
            <a:off x="5943600" y="1371600"/>
            <a:ext cx="5852161" cy="4754880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TextBox 8"/>
          <p:cNvSpPr txBox="1"/>
          <p:nvPr/>
        </p:nvSpPr>
        <p:spPr>
          <a:xfrm>
            <a:off x="6172200" y="1463040"/>
            <a:ext cx="5394960" cy="2423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solidFill>
                  <a:srgbClr val="F7941D"/>
                </a:solidFill>
              </a:defRPr>
            </a:pPr>
            <a:r>
              <a:t>Key Concepts for Beginners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5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🔒  </a:t>
            </a:r>
            <a:r>
              <a:t>Password Hashing: bcrypt turns 'foobar' into a long irreversible string. Stored hash is safe even if DB leaks.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5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🎫  </a:t>
            </a:r>
            <a:r>
              <a:t>JWT: After login, a signed token (username + expiry) is stored in a cookie. Server verifies signature on every request — stateless.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5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🛡️  </a:t>
            </a:r>
            <a:r>
              <a:t>Middleware: 'Is this user logged in?' is written once as a wrapper function and applied to every protected route.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259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60" name="TextBox 4"/>
          <p:cNvSpPr txBox="1"/>
          <p:nvPr/>
        </p:nvSpPr>
        <p:spPr>
          <a:xfrm>
            <a:off x="502919" y="548640"/>
            <a:ext cx="10881361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7941D"/>
                </a:solidFill>
              </a:defRPr>
            </a:lvl1pPr>
          </a:lstStyle>
          <a:p>
            <a:pPr/>
            <a:r>
              <a:t>Issue #4 – Change Password</a:t>
            </a:r>
          </a:p>
        </p:txBody>
      </p:sp>
      <p:sp>
        <p:nvSpPr>
          <p:cNvPr id="261" name="Rectangle 5"/>
          <p:cNvSpPr/>
          <p:nvPr/>
        </p:nvSpPr>
        <p:spPr>
          <a:xfrm>
            <a:off x="365759" y="1371600"/>
            <a:ext cx="11430001" cy="4754880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6"/>
          <p:cNvSpPr txBox="1"/>
          <p:nvPr/>
        </p:nvSpPr>
        <p:spPr>
          <a:xfrm>
            <a:off x="594359" y="1463040"/>
            <a:ext cx="10972801" cy="3170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>
                <a:solidFill>
                  <a:srgbClr val="F7941D"/>
                </a:solidFill>
              </a:defRPr>
            </a:pPr>
            <a:r>
              <a:t>The Problem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The default password foobar is not secret — there was no way to change it without editing the database directly.</a:t>
            </a:r>
          </a:p>
          <a:p>
            <a:pPr>
              <a:defRPr sz="1200">
                <a:solidFill>
                  <a:srgbClr val="FFFFFF"/>
                </a:solidFill>
              </a:defRPr>
            </a:pPr>
          </a:p>
          <a:p>
            <a:pPr>
              <a:defRPr b="1" sz="2200">
                <a:solidFill>
                  <a:srgbClr val="F7941D"/>
                </a:solidFill>
              </a:defRPr>
            </a:pPr>
            <a:r>
              <a:t>The Solution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POST /admin/change-password: accepts current password, new password, confirmation.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Verifies current password with bcrypt.CompareHashAndPassword.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Hashes and saves the new password in the admins table.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Error handling: wrong current password or mismatched new/confirm fields re-shows the form with an error message.</a:t>
            </a:r>
          </a:p>
          <a:p>
            <a:pPr>
              <a:defRPr sz="1200">
                <a:solidFill>
                  <a:srgbClr val="FFFFFF"/>
                </a:solidFill>
              </a:defRPr>
            </a:pPr>
          </a:p>
          <a:p>
            <a:pPr>
              <a:defRPr b="1">
                <a:solidFill>
                  <a:srgbClr val="00B4D8"/>
                </a:solidFill>
              </a:defRPr>
            </a:pPr>
            <a:r>
              <a:t>Why this matters:</a:t>
            </a:r>
          </a:p>
          <a:p>
            <a:pPr>
              <a:defRPr sz="1600">
                <a:solidFill>
                  <a:srgbClr val="D0D8E4"/>
                </a:solidFill>
              </a:defRPr>
            </a:pPr>
            <a:r>
              <a:t>Small, focused feature that reuses existing bcrypt and DB infrastructure. A good example of building on solid foundations.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266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67" name="TextBox 4"/>
          <p:cNvSpPr txBox="1"/>
          <p:nvPr/>
        </p:nvSpPr>
        <p:spPr>
          <a:xfrm>
            <a:off x="502919" y="548640"/>
            <a:ext cx="10881361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7941D"/>
                </a:solidFill>
              </a:defRPr>
            </a:lvl1pPr>
          </a:lstStyle>
          <a:p>
            <a:pPr/>
            <a:r>
              <a:t>Issue #6 – Docker &amp; Deployment</a:t>
            </a:r>
          </a:p>
        </p:txBody>
      </p:sp>
      <p:sp>
        <p:nvSpPr>
          <p:cNvPr id="268" name="Rectangle 5"/>
          <p:cNvSpPr/>
          <p:nvPr/>
        </p:nvSpPr>
        <p:spPr>
          <a:xfrm>
            <a:off x="365759" y="1371600"/>
            <a:ext cx="5303522" cy="4754880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TextBox 6"/>
          <p:cNvSpPr txBox="1"/>
          <p:nvPr/>
        </p:nvSpPr>
        <p:spPr>
          <a:xfrm>
            <a:off x="594359" y="1463040"/>
            <a:ext cx="4937761" cy="3364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solidFill>
                  <a:srgbClr val="F7941D"/>
                </a:solidFill>
              </a:defRPr>
            </a:pPr>
            <a:r>
              <a:t>The Problem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go run . works on a laptop, but on a server the SQLite DB and uploaded files could be wiped every restart.</a:t>
            </a:r>
          </a:p>
          <a:p>
            <a:pPr>
              <a:defRPr sz="1000">
                <a:solidFill>
                  <a:srgbClr val="FFFFFF"/>
                </a:solidFill>
              </a:defRPr>
            </a:pPr>
          </a:p>
          <a:p>
            <a:pPr>
              <a:defRPr b="1" sz="2000">
                <a:solidFill>
                  <a:srgbClr val="F7941D"/>
                </a:solidFill>
              </a:defRPr>
            </a:pPr>
            <a:r>
              <a:t>The Solution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• Dockerfile: two-stage build</a:t>
            </a:r>
          </a:p>
          <a:p>
            <a:pPr>
              <a:defRPr sz="1500">
                <a:solidFill>
                  <a:srgbClr val="D0D8E4"/>
                </a:solidFill>
              </a:defRPr>
            </a:pPr>
            <a:r>
              <a:t>  Stage 1: Go toolchain compiles binary</a:t>
            </a:r>
          </a:p>
          <a:p>
            <a:pPr>
              <a:defRPr sz="1500">
                <a:solidFill>
                  <a:srgbClr val="D0D8E4"/>
                </a:solidFill>
              </a:defRPr>
            </a:pPr>
            <a:r>
              <a:t>  Stage 2: tiny Debian image with binary + templates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• docker-compose.yml:</a:t>
            </a:r>
          </a:p>
          <a:p>
            <a:pPr>
              <a:defRPr sz="1500">
                <a:solidFill>
                  <a:srgbClr val="D0D8E4"/>
                </a:solidFill>
              </a:defRPr>
            </a:pPr>
            <a:r>
              <a:t>  Persistent volume at /data</a:t>
            </a:r>
          </a:p>
          <a:p>
            <a:pPr>
              <a:defRPr sz="1500">
                <a:solidFill>
                  <a:srgbClr val="D0D8E4"/>
                </a:solidFill>
              </a:defRPr>
            </a:pPr>
            <a:r>
              <a:t>  base-url via environment variable</a:t>
            </a:r>
          </a:p>
          <a:p>
            <a:pPr>
              <a:defRPr sz="1500">
                <a:solidFill>
                  <a:srgbClr val="D0D8E4"/>
                </a:solidFill>
              </a:defRPr>
            </a:pPr>
            <a:r>
              <a:t>  Health check polls /login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• SQLite WAL mode for concurrent reads</a:t>
            </a:r>
          </a:p>
        </p:txBody>
      </p:sp>
      <p:sp>
        <p:nvSpPr>
          <p:cNvPr id="270" name="Rectangle 7"/>
          <p:cNvSpPr/>
          <p:nvPr/>
        </p:nvSpPr>
        <p:spPr>
          <a:xfrm>
            <a:off x="5943600" y="1371600"/>
            <a:ext cx="5852161" cy="4754880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TextBox 8"/>
          <p:cNvSpPr txBox="1"/>
          <p:nvPr/>
        </p:nvSpPr>
        <p:spPr>
          <a:xfrm>
            <a:off x="6172200" y="1463040"/>
            <a:ext cx="5394960" cy="2474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solidFill>
                  <a:srgbClr val="F7941D"/>
                </a:solidFill>
              </a:defRPr>
            </a:pPr>
            <a:r>
              <a:t>Key Concepts for Beginners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5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🐳  </a:t>
            </a:r>
            <a:r>
              <a:t>Multi-stage Docker builds: Stage 1 is ~600 MB (Go toolchain). Stage 2 is a few MB (binary only). Ship lean.</a:t>
            </a: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15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💾  </a:t>
            </a:r>
            <a:r>
              <a:t>Persistent volumes: without a volume, docker compose up starts with empty DB and empty uploads every time.</a:t>
            </a: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15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⚡  </a:t>
            </a:r>
            <a:r>
              <a:t>SQLite WAL mode: allows readers and writers to work at the same time without locking — essential for a web app.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275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76" name="TextBox 4"/>
          <p:cNvSpPr txBox="1"/>
          <p:nvPr/>
        </p:nvSpPr>
        <p:spPr>
          <a:xfrm>
            <a:off x="502919" y="548640"/>
            <a:ext cx="10881361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7941D"/>
                </a:solidFill>
              </a:defRPr>
            </a:lvl1pPr>
          </a:lstStyle>
          <a:p>
            <a:pPr/>
            <a:r>
              <a:t>Issue #8 – Fix PDF Downloads (MIME Types)</a:t>
            </a:r>
          </a:p>
        </p:txBody>
      </p:sp>
      <p:sp>
        <p:nvSpPr>
          <p:cNvPr id="277" name="Rectangle 5"/>
          <p:cNvSpPr/>
          <p:nvPr/>
        </p:nvSpPr>
        <p:spPr>
          <a:xfrm>
            <a:off x="365759" y="1371600"/>
            <a:ext cx="11430001" cy="4754880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TextBox 6"/>
          <p:cNvSpPr txBox="1"/>
          <p:nvPr/>
        </p:nvSpPr>
        <p:spPr>
          <a:xfrm>
            <a:off x="594359" y="1463040"/>
            <a:ext cx="10972801" cy="34374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>
                <a:solidFill>
                  <a:srgbClr val="F7941D"/>
                </a:solidFill>
              </a:defRPr>
            </a:pPr>
            <a:r>
              <a:t>The Problem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When report.pdf was uploaded, the slug was just report (no extension). Browsers had no idea the file was a PDF — they showed garbled text or asked which app to use.</a:t>
            </a:r>
          </a:p>
          <a:p>
            <a:pPr>
              <a:defRPr sz="1200">
                <a:solidFill>
                  <a:srgbClr val="FFFFFF"/>
                </a:solidFill>
              </a:defRPr>
            </a:pPr>
          </a:p>
          <a:p>
            <a:pPr>
              <a:defRPr b="1" sz="2200">
                <a:solidFill>
                  <a:srgbClr val="F7941D"/>
                </a:solidFill>
              </a:defRPr>
            </a:pPr>
            <a:r>
              <a:t>The Solution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Slug generation now preserves the .pdf extension: report.pdf → slug report.pdf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Response header Content-Type: application/pdf is set explicitly.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Content-Disposition: inline → browser displays the PDF rather than triggering a download dialog.</a:t>
            </a:r>
          </a:p>
          <a:p>
            <a:pPr>
              <a:defRPr sz="1200">
                <a:solidFill>
                  <a:srgbClr val="FFFFFF"/>
                </a:solidFill>
              </a:defRPr>
            </a:pPr>
          </a:p>
          <a:p>
            <a:pPr>
              <a:defRPr b="1">
                <a:solidFill>
                  <a:srgbClr val="00B4D8"/>
                </a:solidFill>
              </a:defRPr>
            </a:pPr>
            <a:r>
              <a:t>Why this matters:</a:t>
            </a:r>
          </a:p>
          <a:p>
            <a:pPr>
              <a:defRPr sz="1600">
                <a:solidFill>
                  <a:srgbClr val="D0D8E4"/>
                </a:solidFill>
              </a:defRPr>
            </a:pPr>
            <a:r>
              <a:t>MIME types tell the browser what kind of data it is receiving. This bug is invisible by reading the code — you only discover it by actually trying the app in a browser. A reminder to always test in the real environment.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282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283" name="TextBox 4"/>
          <p:cNvSpPr txBox="1"/>
          <p:nvPr/>
        </p:nvSpPr>
        <p:spPr>
          <a:xfrm>
            <a:off x="502919" y="548640"/>
            <a:ext cx="10881361" cy="54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7941D"/>
                </a:solidFill>
              </a:defRPr>
            </a:lvl1pPr>
          </a:lstStyle>
          <a:p>
            <a:pPr/>
            <a:r>
              <a:t>Issue #10 – Admin Documents Page</a:t>
            </a:r>
          </a:p>
        </p:txBody>
      </p:sp>
      <p:sp>
        <p:nvSpPr>
          <p:cNvPr id="284" name="Rectangle 5"/>
          <p:cNvSpPr/>
          <p:nvPr/>
        </p:nvSpPr>
        <p:spPr>
          <a:xfrm>
            <a:off x="365759" y="1371600"/>
            <a:ext cx="5303522" cy="4754880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TextBox 6"/>
          <p:cNvSpPr txBox="1"/>
          <p:nvPr/>
        </p:nvSpPr>
        <p:spPr>
          <a:xfrm>
            <a:off x="594359" y="1463040"/>
            <a:ext cx="4937761" cy="3520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solidFill>
                  <a:srgbClr val="F7941D"/>
                </a:solidFill>
              </a:defRPr>
            </a:pPr>
            <a:r>
              <a:t>The Problem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No way to see which documents were uploaded, who uploaded them, how large they were, or their short URLs — except by querying the database directly.</a:t>
            </a:r>
          </a:p>
          <a:p>
            <a:pPr>
              <a:defRPr sz="1000">
                <a:solidFill>
                  <a:srgbClr val="FFFFFF"/>
                </a:solidFill>
              </a:defRPr>
            </a:pPr>
          </a:p>
          <a:p>
            <a:pPr>
              <a:defRPr b="1" sz="2000">
                <a:solidFill>
                  <a:srgbClr val="F7941D"/>
                </a:solidFill>
              </a:defRPr>
            </a:pPr>
            <a:r>
              <a:t>The Solution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• GET /documents: table of all docs (filename, uploader, date, size, download count, short URL)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• Checkbox per row + 'Delete Selected' + JS confirmation dialog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• Pagination: 30 rows per page with Prev/Next links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•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📋 </a:t>
            </a:r>
            <a:r>
              <a:t>icon links to download-events log (when tracking enabled)</a:t>
            </a:r>
          </a:p>
        </p:txBody>
      </p:sp>
      <p:sp>
        <p:nvSpPr>
          <p:cNvPr id="286" name="Rectangle 7"/>
          <p:cNvSpPr/>
          <p:nvPr/>
        </p:nvSpPr>
        <p:spPr>
          <a:xfrm>
            <a:off x="5943600" y="1371600"/>
            <a:ext cx="5852161" cy="4754880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TextBox 8"/>
          <p:cNvSpPr txBox="1"/>
          <p:nvPr/>
        </p:nvSpPr>
        <p:spPr>
          <a:xfrm>
            <a:off x="6172200" y="1463040"/>
            <a:ext cx="5394960" cy="2258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000">
                <a:solidFill>
                  <a:srgbClr val="F7941D"/>
                </a:solidFill>
              </a:defRPr>
            </a:pPr>
            <a:r>
              <a:t>Key Concepts for Beginners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5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📄  </a:t>
            </a:r>
            <a:r>
              <a:t>Pagination: LIMIT 30 OFFSET (page-1)*30 fetches only the rows for the current page. Essential once you have thousands of records.</a:t>
            </a: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☑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️  </a:t>
            </a:r>
            <a:r>
              <a:t>Bulk operations: form sends a list of selected IDs as a repeated form field; handler loops over them and deletes each one.</a:t>
            </a: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b="1" sz="1500">
                <a:solidFill>
                  <a:srgbClr val="00B4D8"/>
                </a:solidFill>
              </a:defRPr>
            </a:pPr>
            <a:r>
              <a:t>Admin tooling gives visibility into a running system — without it, you are flying blind.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291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292" name="TextBox 4"/>
          <p:cNvSpPr txBox="1"/>
          <p:nvPr/>
        </p:nvSpPr>
        <p:spPr>
          <a:xfrm>
            <a:off x="502920" y="548640"/>
            <a:ext cx="11247120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7941D"/>
                </a:solidFill>
              </a:defRPr>
            </a:lvl1pPr>
          </a:lstStyle>
          <a:p>
            <a:pPr/>
            <a:r>
              <a:t>Issue #12 &amp; #14 – Email Tracking &amp; Bug Fix</a:t>
            </a:r>
          </a:p>
        </p:txBody>
      </p:sp>
      <p:sp>
        <p:nvSpPr>
          <p:cNvPr id="293" name="Rectangle 5"/>
          <p:cNvSpPr/>
          <p:nvPr/>
        </p:nvSpPr>
        <p:spPr>
          <a:xfrm>
            <a:off x="365759" y="1371600"/>
            <a:ext cx="5486401" cy="4754880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TextBox 6"/>
          <p:cNvSpPr txBox="1"/>
          <p:nvPr/>
        </p:nvSpPr>
        <p:spPr>
          <a:xfrm>
            <a:off x="594360" y="1463040"/>
            <a:ext cx="5120640" cy="24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00B4D8"/>
                </a:solidFill>
              </a:defRPr>
            </a:pPr>
            <a:r>
              <a:t>Issue #12 – Email Download Tracking</a:t>
            </a:r>
          </a:p>
          <a:p>
            <a:pPr>
              <a:defRPr sz="500">
                <a:solidFill>
                  <a:srgbClr val="FFFFFF"/>
                </a:solidFill>
              </a:defRPr>
            </a:pP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'Track downloads' checkbox on upload form.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When a tracked link is visited → show email prompt instead of PDF.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On POST: validate email, record in download_events table, then redirect → GET serves PDF.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400">
                <a:solidFill>
                  <a:srgbClr val="F7941D"/>
                </a:solidFill>
              </a:defRPr>
            </a:pPr>
            <a:r>
              <a:t>Post-Redirect-Get (PRG) pattern prevents 'resubmit form?' dialog on browser refresh.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400">
                <a:solidFill>
                  <a:srgbClr val="D0D8E4"/>
                </a:solidFill>
              </a:defRPr>
            </a:pPr>
            <a:r>
              <a:t>download_events table has a foreign key → documents: prevents orphaned records.</a:t>
            </a:r>
          </a:p>
        </p:txBody>
      </p:sp>
      <p:sp>
        <p:nvSpPr>
          <p:cNvPr id="295" name="Rectangle 7"/>
          <p:cNvSpPr/>
          <p:nvPr/>
        </p:nvSpPr>
        <p:spPr>
          <a:xfrm>
            <a:off x="6126479" y="1371600"/>
            <a:ext cx="5669281" cy="4754880"/>
          </a:xfrm>
          <a:prstGeom prst="rect">
            <a:avLst/>
          </a:prstGeom>
          <a:solidFill>
            <a:srgbClr val="0711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TextBox 8"/>
          <p:cNvSpPr txBox="1"/>
          <p:nvPr/>
        </p:nvSpPr>
        <p:spPr>
          <a:xfrm>
            <a:off x="6355079" y="1463040"/>
            <a:ext cx="5303521" cy="224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00B4D8"/>
                </a:solidFill>
              </a:defRPr>
            </a:pPr>
            <a:r>
              <a:t>Issue #14 – Off-By-One Download Count</a:t>
            </a:r>
          </a:p>
          <a:p>
            <a:pPr>
              <a:defRPr sz="500">
                <a:solidFill>
                  <a:srgbClr val="FFFFFF"/>
                </a:solidFill>
              </a:defRPr>
            </a:pP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Bug: after 2 downloads the counter showed 3; after 3 it showed 5.</a:t>
            </a:r>
          </a:p>
          <a:p>
            <a:pPr>
              <a:defRPr sz="500">
                <a:solidFill>
                  <a:srgbClr val="FFFFFF"/>
                </a:solidFill>
              </a:defRPr>
            </a:pP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Root cause: counter was incremented in TWO places — once on the email POST, once on the PDF GET. PRG means two HTTP requests per download = counter incremented twice.</a:t>
            </a:r>
          </a:p>
          <a:p>
            <a:pPr>
              <a:defRPr sz="500">
                <a:solidFill>
                  <a:srgbClr val="FFFFFF"/>
                </a:solidFill>
              </a:defRPr>
            </a:pPr>
          </a:p>
          <a:p>
            <a:pPr>
              <a:defRPr b="1" sz="1400">
                <a:solidFill>
                  <a:srgbClr val="F7941D"/>
                </a:solidFill>
              </a:defRPr>
            </a:pPr>
            <a:r>
              <a:t>Fix: one-line deletion removing the duplicate increment.</a:t>
            </a:r>
          </a:p>
          <a:p>
            <a:pPr>
              <a:defRPr sz="500">
                <a:solidFill>
                  <a:srgbClr val="FFFFFF"/>
                </a:solidFill>
              </a:defRPr>
            </a:pPr>
          </a:p>
          <a:p>
            <a:pPr>
              <a:defRPr sz="1400">
                <a:solidFill>
                  <a:srgbClr val="D0D8E4"/>
                </a:solidFill>
              </a:defRPr>
            </a:pPr>
            <a:r>
              <a:t>Lesson: new features can accidentally break existing ones. Reproduce reliably first, then trace the execution path before touching the code.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7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TextBox 2"/>
          <p:cNvSpPr txBox="1"/>
          <p:nvPr/>
        </p:nvSpPr>
        <p:spPr>
          <a:xfrm>
            <a:off x="431694" y="202620"/>
            <a:ext cx="44805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300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301" name="TextBox 5"/>
          <p:cNvSpPr txBox="1"/>
          <p:nvPr/>
        </p:nvSpPr>
        <p:spPr>
          <a:xfrm>
            <a:off x="511809" y="567970"/>
            <a:ext cx="1115568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Issue #16 &amp; Summary – CSV Export &amp; Lessons Learned</a:t>
            </a:r>
          </a:p>
        </p:txBody>
      </p:sp>
      <p:sp>
        <p:nvSpPr>
          <p:cNvPr id="302" name="Rectangle 6"/>
          <p:cNvSpPr/>
          <p:nvPr/>
        </p:nvSpPr>
        <p:spPr>
          <a:xfrm>
            <a:off x="365759" y="1051559"/>
            <a:ext cx="4114801" cy="5120642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TextBox 7"/>
          <p:cNvSpPr txBox="1"/>
          <p:nvPr/>
        </p:nvSpPr>
        <p:spPr>
          <a:xfrm>
            <a:off x="594359" y="1097280"/>
            <a:ext cx="3657600" cy="260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7941D"/>
                </a:solidFill>
              </a:defRPr>
            </a:pPr>
            <a:r>
              <a:t>Issue #16 – CSV Export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400">
                <a:solidFill>
                  <a:srgbClr val="00B4D8"/>
                </a:solidFill>
              </a:defRPr>
            </a:pPr>
            <a:r>
              <a:t>GET /documents/csv</a:t>
            </a:r>
          </a:p>
          <a:p>
            <a:pPr>
              <a:defRPr sz="1400">
                <a:solidFill>
                  <a:srgbClr val="00B4D8"/>
                </a:solidFill>
              </a:defRPr>
            </a:pPr>
            <a:r>
              <a:t>GET /documents/{id}/downloads/csv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Content-Disposition: attachment; filename=... → browser downloads the file.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sz="1400">
                <a:solidFill>
                  <a:srgbClr val="D0D8E4"/>
                </a:solidFill>
              </a:defRPr>
            </a:pPr>
            <a:r>
              <a:t>Go encoding/csv makes this simple: write header row, loop data rows.</a:t>
            </a:r>
          </a:p>
          <a:p>
            <a:pPr>
              <a:defRPr sz="800">
                <a:solidFill>
                  <a:srgbClr val="FFFFFF"/>
                </a:solidFill>
              </a:defRPr>
            </a:pPr>
          </a:p>
          <a:p>
            <a:pPr>
              <a:defRPr b="1" sz="1400">
                <a:solidFill>
                  <a:srgbClr val="FFFFFF"/>
                </a:solidFill>
              </a:defRPr>
            </a:pPr>
            <a:r>
              <a:t>Small change, high practical value for sharing data with colleagues.</a:t>
            </a:r>
          </a:p>
        </p:txBody>
      </p:sp>
      <p:sp>
        <p:nvSpPr>
          <p:cNvPr id="304" name="Rectangle 8"/>
          <p:cNvSpPr/>
          <p:nvPr/>
        </p:nvSpPr>
        <p:spPr>
          <a:xfrm>
            <a:off x="4663440" y="1051559"/>
            <a:ext cx="3657601" cy="5120642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TextBox 9"/>
          <p:cNvSpPr txBox="1"/>
          <p:nvPr/>
        </p:nvSpPr>
        <p:spPr>
          <a:xfrm>
            <a:off x="4892040" y="1097280"/>
            <a:ext cx="3291840" cy="2439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7941D"/>
                </a:solidFill>
              </a:defRPr>
            </a:pPr>
            <a:r>
              <a:t>Development Arc</a:t>
            </a:r>
          </a:p>
          <a:p>
            <a:pPr>
              <a:defRPr sz="400">
                <a:solidFill>
                  <a:srgbClr val="FFFFFF"/>
                </a:solidFill>
              </a:defRPr>
            </a:pP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Start    → Basic upload, no security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#2       → Login, JWT, admin mgmt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#4       → Change-password form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#6       → Docker, persistent data</a:t>
            </a:r>
          </a:p>
          <a:p>
            <a:pPr>
              <a:defRPr sz="1300">
                <a:solidFill>
                  <a:schemeClr val="accent6">
                    <a:lumOff val="9460"/>
                  </a:schemeClr>
                </a:solidFill>
              </a:defRPr>
            </a:pPr>
            <a:r>
              <a:t>#8 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🐛   </a:t>
            </a:r>
            <a:r>
              <a:t>→ Fix MIME type bug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#10      → Admin documents page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#12      → Email download tracking</a:t>
            </a:r>
          </a:p>
          <a:p>
            <a:pPr>
              <a:defRPr sz="1300">
                <a:solidFill>
                  <a:schemeClr val="accent6">
                    <a:lumOff val="9460"/>
                  </a:schemeClr>
                </a:solidFill>
              </a:defRPr>
            </a:pPr>
            <a:r>
              <a:t>#14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🐛   </a:t>
            </a:r>
            <a:r>
              <a:t>→ Fix off-by-one counter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#16      → CSV export</a:t>
            </a:r>
          </a:p>
        </p:txBody>
      </p:sp>
      <p:sp>
        <p:nvSpPr>
          <p:cNvPr id="306" name="Rectangle 10"/>
          <p:cNvSpPr/>
          <p:nvPr/>
        </p:nvSpPr>
        <p:spPr>
          <a:xfrm>
            <a:off x="8503919" y="1051559"/>
            <a:ext cx="3291841" cy="5120642"/>
          </a:xfrm>
          <a:prstGeom prst="rect">
            <a:avLst/>
          </a:prstGeom>
          <a:solidFill>
            <a:srgbClr val="0D1B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TextBox 11"/>
          <p:cNvSpPr txBox="1"/>
          <p:nvPr/>
        </p:nvSpPr>
        <p:spPr>
          <a:xfrm>
            <a:off x="8732519" y="1097280"/>
            <a:ext cx="2926081" cy="3330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7941D"/>
                </a:solidFill>
              </a:defRPr>
            </a:pPr>
            <a:r>
              <a:t>Key Lessons</a:t>
            </a:r>
          </a:p>
          <a:p>
            <a:pPr>
              <a:defRPr sz="400">
                <a:solidFill>
                  <a:srgbClr val="FFFFFF"/>
                </a:solidFill>
              </a:defRPr>
            </a:pP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1. Start minimal — one thing only.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2. Add security early.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3. Make operations safe.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4. Operationalize — deploy without data loss.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5. Fix rough edges found in the real browser.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6. Add admin tooling for visibility.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7. Add the headline feature last.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8. Fix bugs introduced by new features.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9. Small quality-of-life improvements have high value.</a:t>
            </a:r>
          </a:p>
          <a:p>
            <a:pPr>
              <a:defRPr sz="600">
                <a:solidFill>
                  <a:srgbClr val="FFFFFF"/>
                </a:solidFill>
              </a:defRPr>
            </a:pPr>
          </a:p>
          <a:p>
            <a:pPr>
              <a:defRPr b="1" sz="2700">
                <a:solidFill>
                  <a:srgbClr val="F7941D"/>
                </a:solidFill>
              </a:defRPr>
            </a:pPr>
            <a:r>
              <a:t>One issue at a time.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1"/>
          <p:cNvSpPr/>
          <p:nvPr/>
        </p:nvSpPr>
        <p:spPr>
          <a:xfrm>
            <a:off x="-1" y="6492240"/>
            <a:ext cx="12188954" cy="365761"/>
          </a:xfrm>
          <a:prstGeom prst="rect">
            <a:avLst/>
          </a:prstGeom>
          <a:solidFill>
            <a:srgbClr val="F7941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TextBox 2"/>
          <p:cNvSpPr txBox="1"/>
          <p:nvPr/>
        </p:nvSpPr>
        <p:spPr>
          <a:xfrm>
            <a:off x="411479" y="137160"/>
            <a:ext cx="44805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7941D"/>
                </a:solidFill>
              </a:defRPr>
            </a:lvl1pPr>
          </a:lstStyle>
          <a:p>
            <a:pPr/>
            <a:r>
              <a:t>ZCW PostDoc</a:t>
            </a:r>
          </a:p>
        </p:txBody>
      </p:sp>
      <p:sp>
        <p:nvSpPr>
          <p:cNvPr id="311" name="TextBox 3"/>
          <p:cNvSpPr txBox="1"/>
          <p:nvPr/>
        </p:nvSpPr>
        <p:spPr>
          <a:xfrm>
            <a:off x="11567159" y="6492240"/>
            <a:ext cx="4572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100">
                <a:solidFill>
                  <a:srgbClr val="D0D8E4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12" name="TextBox 4"/>
          <p:cNvSpPr txBox="1"/>
          <p:nvPr/>
        </p:nvSpPr>
        <p:spPr>
          <a:xfrm>
            <a:off x="3718449" y="1569477"/>
            <a:ext cx="4742402" cy="820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700">
                <a:solidFill>
                  <a:srgbClr val="F7941D"/>
                </a:solidFill>
              </a:defRPr>
            </a:lvl1pPr>
          </a:lstStyle>
          <a:p>
            <a:pPr/>
            <a:r>
              <a:t>PostDoc Beta 1</a:t>
            </a:r>
          </a:p>
        </p:txBody>
      </p:sp>
      <p:sp>
        <p:nvSpPr>
          <p:cNvPr id="313" name="http://post.zipcode.rocks"/>
          <p:cNvSpPr txBox="1"/>
          <p:nvPr/>
        </p:nvSpPr>
        <p:spPr>
          <a:xfrm>
            <a:off x="2357618" y="3232417"/>
            <a:ext cx="7913525" cy="850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6000" u="sng">
                <a:solidFill>
                  <a:schemeClr val="accent5">
                    <a:lumOff val="11617"/>
                  </a:schemeClr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defRPr>
            </a:lvl1pPr>
          </a:lstStyle>
          <a:p>
            <a:pPr>
              <a:defRPr u="none">
                <a:uFillTx/>
              </a:defRPr>
            </a:pPr>
            <a:r>
              <a:rPr u="sng"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http://post.zipcode.rocks</a:t>
            </a:r>
          </a:p>
        </p:txBody>
      </p:sp>
      <p:sp>
        <p:nvSpPr>
          <p:cNvPr id="314" name="TextBox 4"/>
          <p:cNvSpPr txBox="1"/>
          <p:nvPr/>
        </p:nvSpPr>
        <p:spPr>
          <a:xfrm rot="1948352">
            <a:off x="7188409" y="1160045"/>
            <a:ext cx="3040032" cy="989966"/>
          </a:xfrm>
          <a:prstGeom prst="rect">
            <a:avLst/>
          </a:prstGeom>
          <a:ln>
            <a:solidFill>
              <a:schemeClr val="accent2">
                <a:lumOff val="23627"/>
              </a:schemeClr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5700">
                <a:solidFill>
                  <a:schemeClr val="accent2">
                    <a:lumOff val="11813"/>
                  </a:schemeClr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pPr/>
            <a:r>
              <a:t>DEPLOYED</a:t>
            </a:r>
          </a:p>
        </p:txBody>
      </p:sp>
      <p:sp>
        <p:nvSpPr>
          <p:cNvPr id="315" name="TextBox 6"/>
          <p:cNvSpPr txBox="1"/>
          <p:nvPr/>
        </p:nvSpPr>
        <p:spPr>
          <a:xfrm>
            <a:off x="1788100" y="5938857"/>
            <a:ext cx="90525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F7941D"/>
                </a:solidFill>
              </a:defRPr>
            </a:lvl1pPr>
          </a:lstStyle>
          <a:p>
            <a:pPr/>
            <a:r>
              <a:t>ZipCodeWilmington  ·  PostDoc Beta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