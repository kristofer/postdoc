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18320" cy="4389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7941D"/>
                </a:solidFill>
              </a:rPr>
              <a:t>Building PostDoc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606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An Issue-Driven Development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D8E4"/>
                </a:solidFill>
              </a:rPr>
              <a:t>From zero to Beta 1 – one issue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7941D"/>
                </a:solidFill>
              </a:rPr>
              <a:t>ZipCode Wilmington  ·  PostDoc Beta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What is PostDoc?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41D"/>
                </a:solidFill>
              </a:rPr>
              <a:t>The Core Idea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Upload a PDF → get a short, shareable link.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No special software needed for visitors.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Optionally gate downloads behind an email address for lead capture.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Two Audiences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👤  Admins – log in, upload PDFs, manage documents.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🌐  Visitors – click a short link, optionally provide an email, get the PDF.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F7941D"/>
                </a:solidFill>
              </a:rPr>
              <a:t>Built with Go · SQLite ·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Beta 1 Target – What It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474720" cy="1051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📤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Drag-and-drop PDF upload with a clean admin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5072" y="1463040"/>
            <a:ext cx="3474720" cy="1051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1536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🔗  Short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192024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Every PDF gets a short, memorable URL instantly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44384" y="1463040"/>
            <a:ext cx="3474720" cy="1051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1544" y="1536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📧  Email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192024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Optional: require visitors to enter email before download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79192"/>
            <a:ext cx="3474720" cy="1051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523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📋  Doc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3639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Admin table showing all uploads, sizes, and download 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2679192"/>
            <a:ext cx="3474720" cy="1051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27523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📊  CSV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313639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Export document lists or download events to a spreadsheet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44384" y="2679192"/>
            <a:ext cx="3474720" cy="1051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81544" y="27523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👥  Multi-Admin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544" y="313639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Multiple admin accounts, each with their own password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App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1148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Architecture Overview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00B4D8"/>
                </a:solidFill>
              </a:rPr>
              <a:t>Browser  ──►  Go HTTP Server  ──►  SQLite Database</a:t>
            </a:r>
          </a:p>
          <a:p>
            <a:pPr algn="l"/>
            <a:r>
              <a:rPr sz="1800" b="0" i="0">
                <a:solidFill>
                  <a:srgbClr val="FFFFFF"/>
                </a:solidFill>
              </a:rPr>
              <a:t>                     │</a:t>
            </a:r>
          </a:p>
          <a:p>
            <a:pPr algn="l"/>
            <a:r>
              <a:rPr sz="1800" b="0" i="0">
                <a:solidFill>
                  <a:srgbClr val="FFFFFF"/>
                </a:solidFill>
              </a:rPr>
              <a:t>                     ▼</a:t>
            </a:r>
          </a:p>
          <a:p>
            <a:pPr algn="l"/>
            <a:r>
              <a:rPr sz="1800" b="0" i="0">
                <a:solidFill>
                  <a:srgbClr val="FFFFFF"/>
                </a:solidFill>
              </a:rPr>
              <a:t>               Filesystem (PDFs)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D0D8E4"/>
                </a:solidFill>
              </a:rPr>
              <a:t>All routes are protected by JWT auth middleware — except the public /{slug} download route.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URL structure:  /login  /  /upload  /admin  /documents  /{slug}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Beta 1 UI – The Login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4"/>
                </a:solidFill>
              </a:rPr>
              <a:t>┌─────────────────────────────┐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│      ZCW PostDoc            │</a:t>
            </a:r>
          </a:p>
          <a:p>
            <a:pPr algn="l"/>
            <a:r>
              <a:rPr sz="1300" b="0" i="0">
                <a:solidFill>
                  <a:srgbClr val="D0D8E4"/>
                </a:solidFill>
              </a:rPr>
              <a:t>│  Admin access required.     │</a:t>
            </a:r>
          </a:p>
          <a:p>
            <a:pPr algn="l"/>
            <a:r>
              <a:rPr sz="1300" b="0" i="0">
                <a:solidFill>
                  <a:srgbClr val="D0D8E4"/>
                </a:solidFill>
              </a:rPr>
              <a:t>│                             │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│  Username  [____________]   │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│  Password  [____________]   │</a:t>
            </a:r>
          </a:p>
          <a:p>
            <a:pPr algn="l"/>
            <a:r>
              <a:rPr sz="1300" b="0" i="0">
                <a:solidFill>
                  <a:srgbClr val="D0D8E4"/>
                </a:solidFill>
              </a:rPr>
              <a:t>│                             │</a:t>
            </a:r>
          </a:p>
          <a:p>
            <a:pPr algn="l"/>
            <a:r>
              <a:rPr sz="1300" b="1" i="0">
                <a:solidFill>
                  <a:srgbClr val="F7941D"/>
                </a:solidFill>
              </a:rPr>
              <a:t>│      [  Sign in  ]          │</a:t>
            </a:r>
          </a:p>
          <a:p>
            <a:pPr algn="l"/>
            <a:r>
              <a:rPr sz="1300" b="0" i="0">
                <a:solidFill>
                  <a:srgbClr val="D0D8E4"/>
                </a:solidFill>
              </a:rPr>
              <a:t>└─────────────────────────────┘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5760720" cy="4572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41D"/>
                </a:solidFill>
              </a:rPr>
              <a:t>Key Points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Any protected page redirects to /login if no valid session is found.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00B4D8"/>
                </a:solidFill>
              </a:rPr>
              <a:t>• Default credentials on fresh install: admin / foobar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Wrong credentials show a red error banner above the form.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D0D8E4"/>
                </a:solidFill>
              </a:rPr>
              <a:t>• After login, a JWT is stored in an HTTP-only cookie — the browser sends it on every request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Beta 1 UI – The Upload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663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4"/>
                </a:solidFill>
              </a:rPr>
              <a:t>┌──────────────────────────────────┐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│         ZCW PostDoc             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│  ⚙ Admin  📄 Documents  Sign out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│                                 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│  ┌──────────────────────────┐    │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│  │  ↑ Drop PDF here         │   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│  └──────────────────────────┘   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│                                  │</a:t>
            </a:r>
          </a:p>
          <a:p>
            <a:pPr algn="l"/>
            <a:r>
              <a:rPr sz="1200" b="1" i="0">
                <a:solidFill>
                  <a:srgbClr val="F7941D"/>
                </a:solidFill>
              </a:rPr>
              <a:t>│     [ Upload &amp; Get Link ]        │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│  ☐  Track downloads (email)     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│  Only PDF files. Max 32 MB.      │</a:t>
            </a:r>
          </a:p>
          <a:p>
            <a:pPr algn="l"/>
            <a:r>
              <a:rPr sz="1200" b="0" i="0">
                <a:solidFill>
                  <a:srgbClr val="D0D8E4"/>
                </a:solidFill>
              </a:rPr>
              <a:t>└──────────────────────────────────┘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669280" cy="466344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41D"/>
                </a:solidFill>
              </a:rPr>
              <a:t>Key Points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Drag-and-drop zone or click to open file picker.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Only .pdf files accepted (client + server validation).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00B4D8"/>
                </a:solidFill>
              </a:rPr>
              <a:t>• 'Track downloads' checkbox: when checked, visitors must enter email before download. Email + timestamp saved to DB.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D0D8E4"/>
                </a:solidFill>
              </a:rPr>
              <a:t>• After upload: a Success page shows the short URL with a one-click Copy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Beta 1 UI – Documents &amp; Download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219456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941D"/>
                </a:solidFill>
              </a:rPr>
              <a:t>Documents Page (/documents)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☐  report.pdf      10 Mar   admin   1.2 MB   3 📋     [short link]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☐  slides.pdf      11 Mar   admin   4.7 MB   0          [short link]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00B4D8"/>
                </a:solidFill>
              </a:rPr>
              <a:t>[Delete Selected]                   ◄ Prev  1  Next ►        [Download CSV]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1338560" cy="164592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941D"/>
                </a:solidFill>
              </a:rPr>
              <a:t>Download Events Page (/documents/{id}/downloads)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alice@example.com    2026-03-11 09:14:02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bob@example.com      2026-03-11 10:30:55</a:t>
            </a:r>
          </a:p>
          <a:p>
            <a:pPr algn="l"/>
            <a:r>
              <a:rPr sz="1400" b="0" i="0">
                <a:solidFill>
                  <a:srgbClr val="00B4D8"/>
                </a:solidFill>
              </a:rPr>
              <a:t>                                                   [Download CSV]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4"/>
                </a:solidFill>
              </a:rPr>
              <a:t>Admins can view all uploads · bulk delete · see who downloaded · export to 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11A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11A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630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11A"/>
                </a:solidFill>
              </a:rPr>
              <a:t>Why It Was Chosen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430000" cy="749808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2024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Go 1.24+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20240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Fast, statically typed, single binary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33472"/>
            <a:ext cx="11430000" cy="7498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2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724912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SQLite 3 (WAL mode)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724912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Zero-config, file-based, reliable for small-to-medium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38144"/>
            <a:ext cx="11430000" cy="749808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958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29584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JWT (HS256, HTTP-only cookie)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529584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Stateless, secure, no server-side session storage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42816"/>
            <a:ext cx="11430000" cy="7498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342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Templates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334256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Go html/template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334256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Built-in, safe from XSS injection by default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47488"/>
            <a:ext cx="11430000" cy="749808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3892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13892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Docker /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138928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Reproducible builds, persistent volumes, health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7941D"/>
                </a:solidFill>
              </a:rPr>
              <a:t>What is Issue-Driven Development?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8006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Every meaningful code change starts with a written issue.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✅  Forces you to think clearly about WHAT to build before you build it.</a:t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✅  Closed issues form a living history of the project — why the code is the way it is.</a:t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✅  Naturally creates small, focused pieces of work instead of one giant untestable change.</a:t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✅  In a team, issues make it easy to divide work: 'I'll take #4, you take #6.'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900" b="1" i="0">
                <a:solidFill>
                  <a:srgbClr val="F7941D"/>
                </a:solidFill>
              </a:rPr>
              <a:t>IDD for PostDoc: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00B4D8"/>
                </a:solidFill>
              </a:rPr>
              <a:t>Start → #2 Security → #4 Passwords → #6 Docker → #8 Bug Fix → #10 Admin UI → #12 Tracking → #14 Bug Fix → #16 CSV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D0D8E4"/>
                </a:solidFill>
              </a:rPr>
              <a:t>No special tool needed — GitHub Issues, a text file, or sticky notes all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7941D"/>
                </a:solidFill>
              </a:rPr>
              <a:t>Issue #2 – Upload Security (JWT Auth)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The Problem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Anyone who knew the server address could upload files.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No concept of 'who uploaded what.'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000" b="1" i="0">
                <a:solidFill>
                  <a:srgbClr val="F7941D"/>
                </a:solidFill>
              </a:rPr>
              <a:t>The Solution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admins table in SQLite (bcrypt-hashed passwords)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POST /login → issues JWT in HTTP-only cookie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Auth middleware wraps every protected route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/admin page to add / delete admin accounts</a:t>
            </a:r>
          </a:p>
          <a:p>
            <a:pPr algn="l"/>
            <a:r>
              <a:rPr sz="1500" b="0" i="0">
                <a:solidFill>
                  <a:srgbClr val="00B4D8"/>
                </a:solidFill>
              </a:rPr>
              <a:t>• Default admin / foobar on first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Key Concepts for Beginners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🔒  Password Hashing: bcrypt turns 'foobar' into a long irreversible string. Stored hash is safe even if DB leaks.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🎫  JWT: After login, a signed token (username + expiry) is stored in a cookie. Server verifies signature on every request — stateless.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🛡️  Middleware: 'Is this user logged in?' is written once as a wrapper function and applied to every protected route.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Issue #4 – Change Password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41D"/>
                </a:solidFill>
              </a:rPr>
              <a:t>The Problem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The default password foobar is not secret — there was no way to change it without editing the database directly.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200" b="1" i="0">
                <a:solidFill>
                  <a:srgbClr val="F7941D"/>
                </a:solidFill>
              </a:rPr>
              <a:t>The Solution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POST /admin/change-password: accepts current password, new password, confirmation.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Verifies current password with bcrypt.CompareHashAndPassword.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Hashes and saves the new password in the admins table.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Error handling: wrong current password or mismatched new/confirm fields re-shows the form with an error message.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1" i="0">
                <a:solidFill>
                  <a:srgbClr val="00B4D8"/>
                </a:solidFill>
              </a:rPr>
              <a:t>Why this matters:</a:t>
            </a:r>
          </a:p>
          <a:p>
            <a:pPr algn="l"/>
            <a:r>
              <a:rPr sz="1600" b="0" i="0">
                <a:solidFill>
                  <a:srgbClr val="D0D8E4"/>
                </a:solidFill>
              </a:rPr>
              <a:t>Small, focused feature that reuses existing bcrypt and DB infrastructure. A good example of building on solid foundations.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Issue #6 – Docker &amp;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The Problem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go run . works on a laptop, but on a server the SQLite DB and uploaded files could be wiped every restart.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000" b="1" i="0">
                <a:solidFill>
                  <a:srgbClr val="F7941D"/>
                </a:solidFill>
              </a:rPr>
              <a:t>The Solution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Dockerfile: two-stage build</a:t>
            </a:r>
          </a:p>
          <a:p>
            <a:pPr algn="l"/>
            <a:r>
              <a:rPr sz="1500" b="0" i="0">
                <a:solidFill>
                  <a:srgbClr val="D0D8E4"/>
                </a:solidFill>
              </a:rPr>
              <a:t>  Stage 1: Go toolchain compiles binary</a:t>
            </a:r>
          </a:p>
          <a:p>
            <a:pPr algn="l"/>
            <a:r>
              <a:rPr sz="1500" b="0" i="0">
                <a:solidFill>
                  <a:srgbClr val="D0D8E4"/>
                </a:solidFill>
              </a:rPr>
              <a:t>  Stage 2: tiny Debian image with binary + templates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docker-compose.yml:</a:t>
            </a:r>
          </a:p>
          <a:p>
            <a:pPr algn="l"/>
            <a:r>
              <a:rPr sz="1500" b="0" i="0">
                <a:solidFill>
                  <a:srgbClr val="D0D8E4"/>
                </a:solidFill>
              </a:rPr>
              <a:t>  Persistent volume at /data</a:t>
            </a:r>
          </a:p>
          <a:p>
            <a:pPr algn="l"/>
            <a:r>
              <a:rPr sz="1500" b="0" i="0">
                <a:solidFill>
                  <a:srgbClr val="D0D8E4"/>
                </a:solidFill>
              </a:rPr>
              <a:t>  base-url via environment variable</a:t>
            </a:r>
          </a:p>
          <a:p>
            <a:pPr algn="l"/>
            <a:r>
              <a:rPr sz="1500" b="0" i="0">
                <a:solidFill>
                  <a:srgbClr val="D0D8E4"/>
                </a:solidFill>
              </a:rPr>
              <a:t>  Health check polls /login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SQLite WAL mode for concurrent 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Key Concepts for Beginners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🐳  Multi-stage Docker builds: Stage 1 is ~600 MB (Go toolchain). Stage 2 is a few MB (binary only). Ship lean.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💾  Persistent volumes: without a volume, docker compose up starts with empty DB and empty uploads every time.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⚡  SQLite WAL mode: allows readers and writers to work at the same time without locking — essential for a web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7941D"/>
                </a:solidFill>
              </a:rPr>
              <a:t>Issue #8 – Fix PDF Downloads (MIME Types)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41D"/>
                </a:solidFill>
              </a:rPr>
              <a:t>The Problem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FFFFFF"/>
                </a:solidFill>
              </a:rPr>
              <a:t>When report.pdf was uploaded, the slug was just report (no extension). Browsers had no idea the file was a PDF — they showed garbled text or asked which app to use.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200" b="1" i="0">
                <a:solidFill>
                  <a:srgbClr val="F7941D"/>
                </a:solidFill>
              </a:rPr>
              <a:t>The Solution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Slug generation now preserves the .pdf extension: report.pdf → slug report.pdf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Response header Content-Type: application/pdf is set explicitly.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• Content-Disposition: inline → browser displays the PDF rather than triggering a download dialog.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1" i="0">
                <a:solidFill>
                  <a:srgbClr val="00B4D8"/>
                </a:solidFill>
              </a:rPr>
              <a:t>Why this matters:</a:t>
            </a:r>
          </a:p>
          <a:p>
            <a:pPr algn="l"/>
            <a:r>
              <a:rPr sz="1600" b="0" i="0">
                <a:solidFill>
                  <a:srgbClr val="D0D8E4"/>
                </a:solidFill>
              </a:rPr>
              <a:t>MIME types tell the browser what kind of data it is receiving. This bug is invisible by reading the code — you only discover it by actually trying the app in a browser. A reminder to always test in the real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41D"/>
                </a:solidFill>
              </a:rPr>
              <a:t>Issue #10 – Admin Documents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The Problem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No way to see which documents were uploaded, who uploaded them, how large they were, or their short URLs — except by querying the database directly.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000" b="1" i="0">
                <a:solidFill>
                  <a:srgbClr val="F7941D"/>
                </a:solidFill>
              </a:rPr>
              <a:t>The Solution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GET /documents: table of all docs (filename, uploader, date, size, download count, short URL)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Checkbox per row + 'Delete Selected' + JS confirmation dialog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Pagination: 30 rows per page with Prev/Next links</a:t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• 📋 icon links to download-events log (when tracking enabled)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941D"/>
                </a:solidFill>
              </a:rPr>
              <a:t>Key Concepts for Beginners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📄  Pagination: LIMIT 30 OFFSET (page-1)*30 fetches only the rows for the current page. Essential once you have thousands of records.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FFFFFF"/>
                </a:solidFill>
              </a:rPr>
              <a:t>☑️  Bulk operations: form sends a list of selected IDs as a repeated form field; handler loops over them and deletes each one.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 i="0">
                <a:solidFill>
                  <a:srgbClr val="00B4D8"/>
                </a:solidFill>
              </a:rPr>
              <a:t>Admin tooling gives visibility into a running system — without it, you are flying blind.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7941D"/>
                </a:solidFill>
              </a:rPr>
              <a:t>Issue #12 &amp; #14 – Email Tracking &amp; Bug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Issue #12 – Email Download Tracking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'Track downloads' checkbox on upload form.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When a tracked link is visited → show email prompt instead of PDF.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On POST: validate email, record in download_events table, then redirect → GET serves PDF.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7941D"/>
                </a:solidFill>
              </a:rPr>
              <a:t>Post-Redirect-Get (PRG) pattern prevents 'resubmit form?' dialog on browser refresh.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D0D8E4"/>
                </a:solidFill>
              </a:rPr>
              <a:t>download_events table has a foreign key → documents: prevents orphaned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669280" cy="475488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Issue #14 – Off-By-One Download Count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Bug: after 2 downloads the counter showed 3; after 3 it showed 5.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Root cause: counter was incremented in TWO places — once on the email POST, once on the PDF GET. PRG means two HTTP requests per download = counter incremented twice.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F7941D"/>
                </a:solidFill>
              </a:rPr>
              <a:t>Fix: one-line deletion removing the duplicate increment.</a:t>
            </a:r>
          </a:p>
          <a:p>
            <a:pPr algn="l"/>
            <a:r>
              <a:rPr sz="5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D0D8E4"/>
                </a:solidFill>
              </a:rPr>
              <a:t>Lesson: new features can accidentally break existing ones. Reproduce reliably first, then trace the execution path before touching the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41D"/>
                </a:solidFill>
              </a:rPr>
              <a:t>ZCW PostDoc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0D8E4"/>
                </a:solidFill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Issue #16 &amp; Summary – CSV Export &amp; Lessons Learned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411480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Issue #16 – CSV Export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00B4D8"/>
                </a:solidFill>
              </a:rPr>
              <a:t>GET /documents/csv</a:t>
            </a:r>
          </a:p>
          <a:p>
            <a:pPr algn="l"/>
            <a:r>
              <a:rPr sz="1400" b="0" i="0">
                <a:solidFill>
                  <a:srgbClr val="00B4D8"/>
                </a:solidFill>
              </a:rPr>
              <a:t>GET /documents/{id}/downloads/csv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Content-Disposition: attachment; filename=... → browser downloads the file.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D0D8E4"/>
                </a:solidFill>
              </a:rPr>
              <a:t>Go encoding/csv makes this simple: write header row, loop data rows.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FFFFFF"/>
                </a:solidFill>
              </a:rPr>
              <a:t>Small change, high practical value for sharing data with colleagues.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51560"/>
            <a:ext cx="365760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09728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Development Arc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Start    → Basic upload, no security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#2       → Login, JWT, admin mgmt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#4       → Change-password form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#6       → Docker, persistent data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#8  🐛   → Fix MIME type bug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#10      → Admin documents page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#12      → Email download tracking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#14 🐛   → Fix off-by-one counter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#16      → CSV 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51560"/>
            <a:ext cx="329184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09728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941D"/>
                </a:solidFill>
              </a:rPr>
              <a:t>Key Lessons</a:t>
            </a:r>
          </a:p>
          <a:p>
            <a:pPr algn="l"/>
            <a:r>
              <a:rPr sz="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1. Start minimal — one thing only.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2. Add security early.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3. Make operations safe.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4. Operationalize — deploy without data loss.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5. Fix rough edges found in the real browser.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6. Add admin tooling for visibility.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7. Add the headline feature last.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8. Fix bugs introduced by new features.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9. Small quality-of-life improvements have high value.</a:t>
            </a:r>
          </a:p>
          <a:p>
            <a:pPr algn="l"/>
            <a:r>
              <a:rPr sz="6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 i="0">
                <a:solidFill>
                  <a:srgbClr val="F7941D"/>
                </a:solidFill>
              </a:rPr>
              <a:t>One issue at a time. ��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